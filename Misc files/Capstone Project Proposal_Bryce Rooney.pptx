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800FB-C729-43D8-B8FA-AF6F4E65F618}" v="1" dt="2026-03-31T21:40:29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408BF972-AAF0-4B87-AAE0-4584C3E8F925}"/>
    <pc:docChg chg="custSel modSld">
      <pc:chgData name="Rooney, Bryce Edward (53520) CIV USN NIWC PACIFIC CA (USA)" userId="802230dc-da13-4caa-9b75-cf409dfca0cb" providerId="ADAL" clId="{408BF972-AAF0-4B87-AAE0-4584C3E8F925}" dt="2026-03-31T21:41:18.573" v="925" actId="20577"/>
      <pc:docMkLst>
        <pc:docMk/>
      </pc:docMkLst>
      <pc:sldChg chg="modSp mod">
        <pc:chgData name="Rooney, Bryce Edward (53520) CIV USN NIWC PACIFIC CA (USA)" userId="802230dc-da13-4caa-9b75-cf409dfca0cb" providerId="ADAL" clId="{408BF972-AAF0-4B87-AAE0-4584C3E8F925}" dt="2026-03-31T20:56:25.168" v="10" actId="20577"/>
        <pc:sldMkLst>
          <pc:docMk/>
          <pc:sldMk cId="291941122" sldId="256"/>
        </pc:sldMkLst>
        <pc:spChg chg="mod">
          <ac:chgData name="Rooney, Bryce Edward (53520) CIV USN NIWC PACIFIC CA (USA)" userId="802230dc-da13-4caa-9b75-cf409dfca0cb" providerId="ADAL" clId="{408BF972-AAF0-4B87-AAE0-4584C3E8F925}" dt="2026-03-31T20:56:25.168" v="10" actId="20577"/>
          <ac:spMkLst>
            <pc:docMk/>
            <pc:sldMk cId="291941122" sldId="256"/>
            <ac:spMk id="2" creationId="{DF18180A-64C9-2A9B-CFB0-FCF2F7E35BB6}"/>
          </ac:spMkLst>
        </pc:spChg>
      </pc:sldChg>
      <pc:sldChg chg="modSp mod">
        <pc:chgData name="Rooney, Bryce Edward (53520) CIV USN NIWC PACIFIC CA (USA)" userId="802230dc-da13-4caa-9b75-cf409dfca0cb" providerId="ADAL" clId="{408BF972-AAF0-4B87-AAE0-4584C3E8F925}" dt="2026-03-31T21:36:26.590" v="354" actId="313"/>
        <pc:sldMkLst>
          <pc:docMk/>
          <pc:sldMk cId="3639129086" sldId="258"/>
        </pc:sldMkLst>
        <pc:spChg chg="mod">
          <ac:chgData name="Rooney, Bryce Edward (53520) CIV USN NIWC PACIFIC CA (USA)" userId="802230dc-da13-4caa-9b75-cf409dfca0cb" providerId="ADAL" clId="{408BF972-AAF0-4B87-AAE0-4584C3E8F925}" dt="2026-03-31T21:36:26.590" v="354" actId="313"/>
          <ac:spMkLst>
            <pc:docMk/>
            <pc:sldMk cId="3639129086" sldId="258"/>
            <ac:spMk id="3" creationId="{385A155F-AFE3-CC5F-DB02-E9B060701EC0}"/>
          </ac:spMkLst>
        </pc:spChg>
      </pc:sldChg>
      <pc:sldChg chg="modSp mod">
        <pc:chgData name="Rooney, Bryce Edward (53520) CIV USN NIWC PACIFIC CA (USA)" userId="802230dc-da13-4caa-9b75-cf409dfca0cb" providerId="ADAL" clId="{408BF972-AAF0-4B87-AAE0-4584C3E8F925}" dt="2026-03-31T21:41:18.573" v="925" actId="20577"/>
        <pc:sldMkLst>
          <pc:docMk/>
          <pc:sldMk cId="2549184229" sldId="260"/>
        </pc:sldMkLst>
        <pc:spChg chg="mod">
          <ac:chgData name="Rooney, Bryce Edward (53520) CIV USN NIWC PACIFIC CA (USA)" userId="802230dc-da13-4caa-9b75-cf409dfca0cb" providerId="ADAL" clId="{408BF972-AAF0-4B87-AAE0-4584C3E8F925}" dt="2026-03-31T21:41:18.573" v="925" actId="20577"/>
          <ac:spMkLst>
            <pc:docMk/>
            <pc:sldMk cId="2549184229" sldId="260"/>
            <ac:spMk id="3" creationId="{00AA322A-38FF-0EFA-C77A-16CA9991EC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D779-46FE-0800-96C4-1E424163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AD610-46CE-0F80-EBE8-DEA354A7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F7F-A8A2-AFDF-503C-CF3A1D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5175-4BBA-185A-16DB-6A0FEC1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33B79-29E4-31BA-5760-E43C59F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139-E360-A1CB-5DE9-86388541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E040-A830-460C-92E9-7ACDADD9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2BA4-7FCD-9D74-B059-EE0CD8F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E640-F9EA-7A9B-42F0-8DB84D7E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0625-8BC2-9004-73A0-59567430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08FB-25FD-D830-3669-12857F0D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AC46-5989-8B74-88EE-FEC7E7BB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9FF6-CB2B-4A00-52A1-F2830053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F62A-DC80-128B-DEFF-030F826E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8A43-9479-913D-979C-DE4F7C4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006-B980-E738-A31D-C830AA7E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90BD-A052-556A-EE1C-F95E151A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56D3-384F-5ED6-24F0-B2435E5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DB69-E110-FE45-A9E7-22C0CCD0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76D8-F456-D950-DA1F-F8E06902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C8DC-9516-F4DC-FD34-4735CE9A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B991-3EEF-2465-E131-744F3B9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54D10-86A4-F22A-D9CD-4B11AAA4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43B7-ABF6-BA18-1041-22025D68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FE6EE-74AF-9163-D07C-BFA7F7BC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EF255-23C7-9C03-3302-C2C115DBD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8F64-BAF5-5750-8A1D-54A6C5C1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CA972-FACC-4C38-2AEF-EBE5880F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466A9-9575-56B2-D488-1AD9070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D36C-7726-65B1-55BF-8E46A06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EB070-53EB-A6EB-6491-DDAEB2F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5429-D7FD-92F1-16CA-DEA0BFB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CBE6-F74C-0692-0C2E-3BFB896D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74C44-4691-C5FB-2C68-3AE557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F190-80F9-0D18-6F37-A6DCB72A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B836-DE6B-468C-333A-4ED71A74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114-6406-37AC-F42C-F7A2CB6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0EDC-C996-0CE5-F8D1-52E2B09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2D745-5704-7451-843D-608A43C5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3626-17C1-34C0-D5C6-E035590E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62C9-FFB6-A8B4-FE22-B0BDAD9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4789-7EAB-6E3D-ABC1-4F9F2ACD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C243-EB89-857A-69A9-FF4E9E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A6184-7146-2BD4-E5E3-27566B99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F574-D333-9940-0B8F-E09062C6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D058-92A3-2514-163B-A410FD27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A9EC-E5C9-498C-EFCD-DD82A68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CDF7-9513-7014-C6F1-82DF2A6A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079E-3D42-8A2C-B38F-47168C54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9E55-D44B-2C42-519E-BED80194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4799-CF88-E2FE-21F5-C45AAD7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4004-16DE-71D3-F095-D899F0B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BFF8-BDCE-70FD-7AFF-F5A3C541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DE058-0EA3-E22D-D40B-C44C04C38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62721-450E-25B7-12CD-37E64F641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9F8-AD21-58B3-01AA-2EB2DC93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743-D397-5245-8050-FCF27B8B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9616-BB49-28F7-D0BD-460D5A9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E20D5-BD04-A241-049F-279CB52B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2F03-4EBD-B653-8928-BF9332BD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47C2-36E3-A67C-916A-BC4ACDD8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F960-87D0-487C-BD50-BC6BA87EEF2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0DE2-9CA1-2827-1628-19449584F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4AEA-1AE2-0274-97C9-3E3B0ED1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180A-64C9-2A9B-CFB0-FCF2F7E3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48C1-0882-A141-789A-AEFE167076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UCSD WES MAS </a:t>
            </a:r>
          </a:p>
          <a:p>
            <a:r>
              <a:rPr lang="en-US" dirty="0"/>
              <a:t>Bryce Rooney</a:t>
            </a:r>
          </a:p>
          <a:p>
            <a:r>
              <a:rPr lang="en-US" dirty="0"/>
              <a:t>(Manny Madina)</a:t>
            </a:r>
          </a:p>
        </p:txBody>
      </p:sp>
    </p:spTree>
    <p:extLst>
      <p:ext uri="{BB962C8B-B14F-4D97-AF65-F5344CB8AC3E}">
        <p14:creationId xmlns:p14="http://schemas.microsoft.com/office/powerpoint/2010/main" val="29194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5445-C140-F2AC-9D8A-5C5292A4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of LoRa in DoD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0602-D295-48EF-7115-5DEC8362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Objectives</a:t>
            </a:r>
          </a:p>
          <a:p>
            <a:pPr lvl="1"/>
            <a:r>
              <a:rPr lang="en-US" dirty="0"/>
              <a:t>Characterize LoRa chirp spread waveform techniques for common DoD applications with the following characteristics of interest </a:t>
            </a:r>
          </a:p>
          <a:p>
            <a:pPr lvl="2"/>
            <a:r>
              <a:rPr lang="en-US" dirty="0"/>
              <a:t>Jam resistance</a:t>
            </a:r>
          </a:p>
          <a:p>
            <a:pPr lvl="2"/>
            <a:r>
              <a:rPr lang="en-US" dirty="0"/>
              <a:t>Low Probability of Detection (LPD)</a:t>
            </a:r>
          </a:p>
          <a:p>
            <a:pPr lvl="2"/>
            <a:r>
              <a:rPr lang="en-US" dirty="0"/>
              <a:t>Low Probability of Interception (LPI)</a:t>
            </a:r>
          </a:p>
          <a:p>
            <a:pPr lvl="2"/>
            <a:r>
              <a:rPr lang="en-US" dirty="0"/>
              <a:t>Communication performance at extremely low SNR (&gt;-100dBm)</a:t>
            </a:r>
          </a:p>
          <a:p>
            <a:pPr lvl="1"/>
            <a:r>
              <a:rPr lang="en-US" dirty="0"/>
              <a:t>Collaborate with industry and NIWC Pac on other industry standards, industry testing/evaluation practices, desired characteristics, and potential application exploration</a:t>
            </a:r>
          </a:p>
          <a:p>
            <a:pPr lvl="1"/>
            <a:r>
              <a:rPr lang="en-US" dirty="0"/>
              <a:t>Write a research paper on findings with insight into desired (or not desired) characteristics and how this fits into DoD Advance Tactical Data Links (ATDL) research and development.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56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3159-74F7-5F69-6ACC-EBEF2B53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A155F-AFE3-CC5F-DB02-E9B06070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Documented plan for test characteristics after NIWC Pac and industry collaboration</a:t>
            </a:r>
          </a:p>
          <a:p>
            <a:pPr lvl="1"/>
            <a:r>
              <a:rPr lang="en-US" dirty="0"/>
              <a:t>Includes details on equipment, set up, characterization context, and software design needed for </a:t>
            </a:r>
            <a:r>
              <a:rPr lang="en-US" dirty="0" err="1"/>
              <a:t>Heltec</a:t>
            </a:r>
            <a:r>
              <a:rPr lang="en-US" dirty="0"/>
              <a:t> boards to accomplish testing.  </a:t>
            </a:r>
          </a:p>
          <a:p>
            <a:pPr lvl="1"/>
            <a:r>
              <a:rPr lang="en-US" dirty="0"/>
              <a:t>Also report on industry practices and primary interests (keeping unclassified)</a:t>
            </a:r>
          </a:p>
          <a:p>
            <a:pPr lvl="1"/>
            <a:r>
              <a:rPr lang="en-US" dirty="0"/>
              <a:t>Identify further project extensions or pivots based on collaboration</a:t>
            </a:r>
          </a:p>
          <a:p>
            <a:r>
              <a:rPr lang="en-US" dirty="0"/>
              <a:t>Software developed and verified for running LoRa in test environments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Heltec</a:t>
            </a:r>
            <a:r>
              <a:rPr lang="en-US" dirty="0"/>
              <a:t> radio will need to be brought into a secret space and the radio must function with only wall power. </a:t>
            </a:r>
          </a:p>
          <a:p>
            <a:pPr lvl="1"/>
            <a:r>
              <a:rPr lang="en-US" dirty="0"/>
              <a:t>Ability to utilize LCD and menu to configure parameters such as spread factor, </a:t>
            </a:r>
            <a:r>
              <a:rPr lang="en-US" dirty="0" err="1"/>
              <a:t>freq</a:t>
            </a:r>
            <a:r>
              <a:rPr lang="en-US" dirty="0"/>
              <a:t>, </a:t>
            </a:r>
            <a:r>
              <a:rPr lang="en-US" dirty="0" err="1"/>
              <a:t>ect</a:t>
            </a:r>
            <a:r>
              <a:rPr lang="en-US" dirty="0"/>
              <a:t> on start up.</a:t>
            </a:r>
          </a:p>
          <a:p>
            <a:pPr lvl="1"/>
            <a:r>
              <a:rPr lang="en-US" dirty="0"/>
              <a:t>An application will need to be developed to have 2 radios communicating with ACK/NACK  to exercise LoRa in tests. </a:t>
            </a:r>
          </a:p>
          <a:p>
            <a:pPr lvl="1"/>
            <a:r>
              <a:rPr lang="en-US" dirty="0"/>
              <a:t>Must be able to characterize lost packet rates and metrics for example </a:t>
            </a:r>
          </a:p>
          <a:p>
            <a:r>
              <a:rPr lang="en-US" dirty="0"/>
              <a:t>Radio brought into spaces and testing performed</a:t>
            </a:r>
          </a:p>
          <a:p>
            <a:r>
              <a:rPr lang="en-US" dirty="0"/>
              <a:t>Research Paper Final Draft (MVP)</a:t>
            </a:r>
          </a:p>
          <a:p>
            <a:r>
              <a:rPr lang="en-US" dirty="0"/>
              <a:t>Additional extension application Demos</a:t>
            </a:r>
          </a:p>
          <a:p>
            <a:pPr lvl="1"/>
            <a:r>
              <a:rPr lang="en-US" dirty="0"/>
              <a:t>Demo successful data exchange in real-world jamming scenarios</a:t>
            </a:r>
          </a:p>
          <a:p>
            <a:pPr lvl="1"/>
            <a:r>
              <a:rPr lang="en-US" dirty="0"/>
              <a:t>Receive Starlink LoRa signals</a:t>
            </a:r>
          </a:p>
          <a:p>
            <a:pPr lvl="1"/>
            <a:r>
              <a:rPr lang="en-US" dirty="0"/>
              <a:t>Support Manny’s Project?</a:t>
            </a:r>
          </a:p>
          <a:p>
            <a:pPr lvl="1"/>
            <a:r>
              <a:rPr lang="en-US" dirty="0"/>
              <a:t>Try to jam or intercept Manny’s project?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12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6B39-A82A-333C-7398-A138FBB4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F4DF36-8CF7-371F-3361-86E178096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106371"/>
              </p:ext>
            </p:extLst>
          </p:nvPr>
        </p:nvGraphicFramePr>
        <p:xfrm>
          <a:off x="838200" y="1825625"/>
          <a:ext cx="10515600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789">
                  <a:extLst>
                    <a:ext uri="{9D8B030D-6E8A-4147-A177-3AD203B41FA5}">
                      <a16:colId xmlns:a16="http://schemas.microsoft.com/office/drawing/2014/main" val="3440181683"/>
                    </a:ext>
                  </a:extLst>
                </a:gridCol>
                <a:gridCol w="8690811">
                  <a:extLst>
                    <a:ext uri="{9D8B030D-6E8A-4147-A177-3AD203B41FA5}">
                      <a16:colId xmlns:a16="http://schemas.microsoft.com/office/drawing/2014/main" val="2700974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6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April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Finalize: Initial Collaboration with industry, Documented plans for tests, and software/code design requirements identified  (finalize and report the what and how)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78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April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development for </a:t>
                      </a:r>
                      <a:r>
                        <a:rPr lang="en-US" dirty="0" err="1"/>
                        <a:t>Heltecs</a:t>
                      </a:r>
                      <a:r>
                        <a:rPr lang="en-US" dirty="0"/>
                        <a:t> in progress and at least in debug/verification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940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Characterization in progress. Coordination for bringing radios into secure space is finalized with dates (if not done already).</a:t>
                      </a:r>
                    </a:p>
                    <a:p>
                      <a:r>
                        <a:rPr lang="en-US" dirty="0"/>
                        <a:t>Demo software and how this will be used in the facilities and simulated environments.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731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Data and information Obtained. Fully support research paper drafting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21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June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Draft of Research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60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77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4F09-BDE8-D92B-0D22-0473C73D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1B7B6-0F60-6927-BC65-E04826894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could quickly get into Classified territory. </a:t>
            </a:r>
          </a:p>
          <a:p>
            <a:pPr lvl="1"/>
            <a:r>
              <a:rPr lang="en-US" dirty="0"/>
              <a:t>Careful considerations for reporting on “industry standards”</a:t>
            </a:r>
          </a:p>
          <a:p>
            <a:pPr lvl="1"/>
            <a:r>
              <a:rPr lang="en-US" dirty="0"/>
              <a:t>Could limit reporting</a:t>
            </a:r>
          </a:p>
          <a:p>
            <a:r>
              <a:rPr lang="en-US" dirty="0"/>
              <a:t>Level of effort is not fully captured</a:t>
            </a:r>
          </a:p>
          <a:p>
            <a:pPr lvl="1"/>
            <a:r>
              <a:rPr lang="en-US" dirty="0"/>
              <a:t>Could be under par for level of effort to satisfy Program</a:t>
            </a:r>
          </a:p>
          <a:p>
            <a:pPr lvl="1"/>
            <a:r>
              <a:rPr lang="en-US" dirty="0"/>
              <a:t>Plans to add scope throughout project but continual scope creep is a risk</a:t>
            </a:r>
          </a:p>
        </p:txBody>
      </p:sp>
    </p:spTree>
    <p:extLst>
      <p:ext uri="{BB962C8B-B14F-4D97-AF65-F5344CB8AC3E}">
        <p14:creationId xmlns:p14="http://schemas.microsoft.com/office/powerpoint/2010/main" val="59552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F6B46-346B-413A-BB55-D71B0469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A322A-38FF-0EFA-C77A-16CA9991E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Feasibility/research Paper (MVP)</a:t>
            </a:r>
          </a:p>
          <a:p>
            <a:pPr lvl="1"/>
            <a:r>
              <a:rPr lang="en-US" dirty="0"/>
              <a:t>Quantitative Metrics of performance against industry tests</a:t>
            </a:r>
          </a:p>
          <a:p>
            <a:pPr lvl="1"/>
            <a:r>
              <a:rPr lang="en-US" dirty="0"/>
              <a:t>Compare performance to </a:t>
            </a:r>
            <a:r>
              <a:rPr lang="en-US" dirty="0" err="1"/>
              <a:t>unclass</a:t>
            </a:r>
            <a:r>
              <a:rPr lang="en-US" dirty="0"/>
              <a:t> waveform performance</a:t>
            </a:r>
          </a:p>
          <a:p>
            <a:pPr lvl="1"/>
            <a:r>
              <a:rPr lang="en-US" dirty="0"/>
              <a:t>Insight into industry lead waveform evaluation (limited to Unclassified)</a:t>
            </a:r>
          </a:p>
          <a:p>
            <a:pPr lvl="1"/>
            <a:r>
              <a:rPr lang="en-US" dirty="0"/>
              <a:t>Analysis of waveform techniques to performance</a:t>
            </a:r>
          </a:p>
          <a:p>
            <a:pPr lvl="1"/>
            <a:r>
              <a:rPr lang="en-US" dirty="0"/>
              <a:t>Potential application exploration</a:t>
            </a:r>
          </a:p>
          <a:p>
            <a:pPr lvl="1"/>
            <a:r>
              <a:rPr lang="en-US" dirty="0"/>
              <a:t>Code design overview used for testing</a:t>
            </a:r>
          </a:p>
          <a:p>
            <a:pPr lvl="1"/>
            <a:r>
              <a:rPr lang="en-US" dirty="0"/>
              <a:t>Test descriptions and context for relevance and wireless applications</a:t>
            </a:r>
          </a:p>
          <a:p>
            <a:r>
              <a:rPr lang="en-US" dirty="0"/>
              <a:t>Extensions</a:t>
            </a:r>
          </a:p>
          <a:p>
            <a:pPr lvl="1"/>
            <a:r>
              <a:rPr lang="en-US" dirty="0"/>
              <a:t>Intercept Starlink LoRa signals</a:t>
            </a:r>
          </a:p>
          <a:p>
            <a:pPr lvl="1"/>
            <a:r>
              <a:rPr lang="en-US" dirty="0"/>
              <a:t>Jam and/or intercept Manny’s Project in real time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8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10293</TotalTime>
  <Words>531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Capstone Project Proposal</vt:lpstr>
      <vt:lpstr>Feasibility of LoRa in DoD applications</vt:lpstr>
      <vt:lpstr>Milestones</vt:lpstr>
      <vt:lpstr>Schedule</vt:lpstr>
      <vt:lpstr>Risks</vt:lpstr>
      <vt:lpstr>Deliveries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Yadi R</cp:lastModifiedBy>
  <cp:revision>4</cp:revision>
  <dcterms:created xsi:type="dcterms:W3CDTF">2026-03-31T19:56:18Z</dcterms:created>
  <dcterms:modified xsi:type="dcterms:W3CDTF">2026-04-25T21:48:16Z</dcterms:modified>
</cp:coreProperties>
</file>
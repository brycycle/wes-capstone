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91" r:id="rId2"/>
    <p:sldId id="268" r:id="rId3"/>
    <p:sldId id="293" r:id="rId4"/>
    <p:sldId id="267" r:id="rId5"/>
    <p:sldId id="272" r:id="rId6"/>
    <p:sldId id="270" r:id="rId7"/>
    <p:sldId id="271" r:id="rId8"/>
    <p:sldId id="283" r:id="rId9"/>
    <p:sldId id="285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82412" autoAdjust="0"/>
  </p:normalViewPr>
  <p:slideViewPr>
    <p:cSldViewPr snapToGrid="0">
      <p:cViewPr varScale="1">
        <p:scale>
          <a:sx n="90" d="100"/>
          <a:sy n="90" d="100"/>
        </p:scale>
        <p:origin x="12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94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recorders, 6 2 point CAF outputs combined</a:t>
            </a:r>
          </a:p>
          <a:p>
            <a:r>
              <a:rPr lang="en-US" dirty="0"/>
              <a:t>No multipath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3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SF7 125k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711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04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2EAB9-7800-84D0-E70C-7D96677E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C7781-D20B-43B4-32C0-C6ABC6C78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5CC1-8E0C-C5D2-4084-C4A8528B5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SF7 500k example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resolution of attenuation steps at 2nm increments</a:t>
            </a:r>
            <a:r>
              <a:rPr lang="en-US" dirty="0">
                <a:effectLst/>
              </a:rPr>
              <a:t>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handling jam-1 and SNR seen at 1-2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hardcoded scripts only 60nm movement - too short for LoRa?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emulated jammer negligible, but legal and easily obtained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packet vs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goodut</a:t>
            </a:r>
            <a:r>
              <a:rPr lang="en-US" dirty="0">
                <a:effectLst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42572-B253-E8EB-F22B-0FF47E878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3560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3B15-80A7-8142-B7F6-D51BAD439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FB71-CECF-D7D2-CD0A-EB0E7668F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1F64-874B-5568-17F8-B0CBC4443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38910-B680-05C3-838D-717918E3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7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A39C1-50E4-8168-77F0-93554042E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83772-92E7-0DC4-454A-2FE855CEE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8A5CC-F56B-2A0C-F3A2-6830B2803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F7BF7-6996-1924-C1B6-C7056A655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2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4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3.png"/><Relationship Id="rId2" Type="http://schemas.openxmlformats.org/officeDocument/2006/relationships/image" Target="../media/image3.jpg"/><Relationship Id="rId16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11" Type="http://schemas.openxmlformats.org/officeDocument/2006/relationships/image" Target="../media/image12.png"/><Relationship Id="rId5" Type="http://schemas.openxmlformats.org/officeDocument/2006/relationships/image" Target="../media/image6.jp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18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jpg"/><Relationship Id="rId7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11" Type="http://schemas.openxmlformats.org/officeDocument/2006/relationships/image" Target="../media/image10.jpg"/><Relationship Id="rId5" Type="http://schemas.openxmlformats.org/officeDocument/2006/relationships/image" Target="../media/image5.jpg"/><Relationship Id="rId10" Type="http://schemas.openxmlformats.org/officeDocument/2006/relationships/image" Target="../media/image9.jpg"/><Relationship Id="rId4" Type="http://schemas.openxmlformats.org/officeDocument/2006/relationships/image" Target="../media/image4.jpg"/><Relationship Id="rId9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C4B53-839C-A023-71C9-88FDF9FA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085284-893D-8778-97FE-0CF9C5A9F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A036C8-05EE-F3EA-BE0A-5C07C1BA51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352" y="932657"/>
            <a:ext cx="838584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</a:rPr>
              <a:t>Quantitative Evaluation of LoRa for DoD Applications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D43282-1260-4C11-0049-E0450E3AD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0795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MAS CAPSTONE Project</a:t>
            </a:r>
          </a:p>
          <a:p>
            <a:pPr algn="l"/>
            <a:r>
              <a:rPr lang="en-US" sz="3200" i="1" dirty="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7552180-5765-6699-0E56-066AAB589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A4DED3-4840-6EC7-AF64-4E3C5690A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AAF180C9-D0F2-88FA-FBEC-0F46244850ED}"/>
              </a:ext>
            </a:extLst>
          </p:cNvPr>
          <p:cNvSpPr txBox="1">
            <a:spLocks/>
          </p:cNvSpPr>
          <p:nvPr/>
        </p:nvSpPr>
        <p:spPr>
          <a:xfrm>
            <a:off x="727365" y="5330535"/>
            <a:ext cx="9531724" cy="116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University of California, San Diego (UCSD) 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Master’s of Advance Study (MAS) - Wireless Embedded Systems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7F81-B127-D2EB-BC14-F461D6406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609" y="4496909"/>
            <a:ext cx="2828491" cy="827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0CD8DD-E0E6-A3E9-01EB-799CA4309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405" y="3461714"/>
            <a:ext cx="26289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02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Lots of Data, Results, and Interpretation….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BC5E90-1452-5DCB-CD9B-FBEC56497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16" y="5165910"/>
            <a:ext cx="1807601" cy="135518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648FE9-4C98-1F3E-6897-76E092763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245" y="5179873"/>
            <a:ext cx="1807602" cy="135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7356CB-7BF9-106B-28DB-76CE684B7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475" y="5179873"/>
            <a:ext cx="1807602" cy="13551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62392B-3BCE-7D4F-0CF4-D8DD669F3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022" y="5179873"/>
            <a:ext cx="1807602" cy="135518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8B0567-D84F-7825-5B5B-C1C4B5DA0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805" y="4471120"/>
            <a:ext cx="756021" cy="5668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3BC1839-9142-349D-0970-2402E97591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587" y="4479564"/>
            <a:ext cx="733494" cy="54991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CA7563E-5E5E-24DB-DCC5-983134F8A7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076" y="4471120"/>
            <a:ext cx="733494" cy="5499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36C0605-2248-6519-44A7-596355B7CD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29" y="4479564"/>
            <a:ext cx="733494" cy="54991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40AE27F-B04F-90B1-52E4-D2F3711C208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5478718"/>
            <a:ext cx="1295681" cy="97176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8FC551B-08C7-813A-DC21-43A08671F5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4380912"/>
            <a:ext cx="1295681" cy="97176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13BDB4-699C-B08A-2F62-69915FCA497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3283107"/>
            <a:ext cx="1295679" cy="97176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1F86592-54A0-54E6-1C2F-D07EC27E5CF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1" y="2196154"/>
            <a:ext cx="1295680" cy="9717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9214E8A-B191-8308-70D7-CB1925A9E03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70091" y="3041964"/>
            <a:ext cx="2824876" cy="134850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87C7E6C-D927-AEB8-F55E-2948275635F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2952" y="2996725"/>
            <a:ext cx="2832635" cy="13839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8C6A099-ABA7-B091-727F-CBCC9D0103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080" y="539396"/>
            <a:ext cx="2920401" cy="2387375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E018B1-F45C-4376-0363-C8D1315C5779}"/>
              </a:ext>
            </a:extLst>
          </p:cNvPr>
          <p:cNvCxnSpPr>
            <a:cxnSpLocks/>
          </p:cNvCxnSpPr>
          <p:nvPr/>
        </p:nvCxnSpPr>
        <p:spPr>
          <a:xfrm>
            <a:off x="7277817" y="1543491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7BCE8F-3676-C790-390C-2BB86D37801A}"/>
              </a:ext>
            </a:extLst>
          </p:cNvPr>
          <p:cNvCxnSpPr>
            <a:cxnSpLocks/>
          </p:cNvCxnSpPr>
          <p:nvPr/>
        </p:nvCxnSpPr>
        <p:spPr>
          <a:xfrm>
            <a:off x="6095700" y="1543491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F919937B-50AE-5844-A366-69C04C538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012" y="539395"/>
            <a:ext cx="3093736" cy="2387376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0C58B63-65CF-A0BA-4F02-403463D594B9}"/>
              </a:ext>
            </a:extLst>
          </p:cNvPr>
          <p:cNvCxnSpPr>
            <a:cxnSpLocks/>
          </p:cNvCxnSpPr>
          <p:nvPr/>
        </p:nvCxnSpPr>
        <p:spPr>
          <a:xfrm>
            <a:off x="9564489" y="1029520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7723A-4F8D-8B84-9D2F-7A6F526CCC75}"/>
              </a:ext>
            </a:extLst>
          </p:cNvPr>
          <p:cNvCxnSpPr>
            <a:cxnSpLocks/>
          </p:cNvCxnSpPr>
          <p:nvPr/>
        </p:nvCxnSpPr>
        <p:spPr>
          <a:xfrm>
            <a:off x="9189237" y="1029520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D9FCB-0EE5-DDE8-BDED-EC656DA00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D508DE-2F78-56DE-D463-09E6C2C089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690F8-8FAF-8254-A4C2-3F954AE73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Resiliency, Detectability, and Geolocation of a Waveform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C5FAE6-7FDB-DA21-CA44-57D00C34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6AE6-3761-59A2-CE54-B2EFFC0EE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16" y="2319597"/>
            <a:ext cx="6906337" cy="915447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Collaboration with Naval Information Warfare Center, Pacific (NIWC Pac) Division 535</a:t>
            </a:r>
          </a:p>
          <a:p>
            <a:pPr marL="0" indent="0">
              <a:buNone/>
            </a:pP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4045DE-D82F-D879-65FD-62574771B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D540F9-D792-8B54-138E-C2C098647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592" y="1264340"/>
            <a:ext cx="2457450" cy="76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5A9753-9B08-91B6-DAC9-7D40E7A53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0580"/>
            <a:ext cx="2628900" cy="857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D4C6A1-FF94-AEA8-4ADF-B4933E75A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7443" y="4765440"/>
            <a:ext cx="1576259" cy="1576259"/>
          </a:xfrm>
          <a:prstGeom prst="rect">
            <a:avLst/>
          </a:prstGeom>
          <a:noFill/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39B10A64-F752-5F94-3703-8F618D2DA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0777" y="3390712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879A7FE7-CDEE-807D-1BA7-5E7BCC5108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88" y="3561867"/>
            <a:ext cx="1616473" cy="16164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F1F218-A771-4B1B-7E74-A70A8A1758CA}"/>
              </a:ext>
            </a:extLst>
          </p:cNvPr>
          <p:cNvSpPr txBox="1"/>
          <p:nvPr/>
        </p:nvSpPr>
        <p:spPr>
          <a:xfrm>
            <a:off x="6856752" y="3183217"/>
            <a:ext cx="48764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Resiliency</a:t>
            </a:r>
            <a:r>
              <a:rPr lang="en-US" sz="1800" dirty="0">
                <a:solidFill>
                  <a:schemeClr val="bg1"/>
                </a:solidFill>
              </a:rPr>
              <a:t> – How well does a waveform perform in the presence of noise, interference and/or at range?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Detectability</a:t>
            </a:r>
            <a:r>
              <a:rPr lang="en-US" sz="1800" dirty="0">
                <a:solidFill>
                  <a:schemeClr val="bg1"/>
                </a:solidFill>
              </a:rPr>
              <a:t> – How easy is the presence of the active waveform to detect?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Geolocation</a:t>
            </a:r>
            <a:r>
              <a:rPr lang="en-US" sz="1800" dirty="0">
                <a:solidFill>
                  <a:schemeClr val="bg1"/>
                </a:solidFill>
              </a:rPr>
              <a:t> – How precise can a transmitter be located?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1CFDD-E7E8-4D03-2328-90D1A3E309E1}"/>
              </a:ext>
            </a:extLst>
          </p:cNvPr>
          <p:cNvSpPr txBox="1"/>
          <p:nvPr/>
        </p:nvSpPr>
        <p:spPr>
          <a:xfrm>
            <a:off x="679256" y="5205563"/>
            <a:ext cx="120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Resiliency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8A88-38BD-A19D-3D3F-55DC6D68B82B}"/>
              </a:ext>
            </a:extLst>
          </p:cNvPr>
          <p:cNvSpPr txBox="1"/>
          <p:nvPr/>
        </p:nvSpPr>
        <p:spPr>
          <a:xfrm>
            <a:off x="2474728" y="4338512"/>
            <a:ext cx="1687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Detectability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8DFBA0-C052-485D-75BE-28FFE9ACB733}"/>
              </a:ext>
            </a:extLst>
          </p:cNvPr>
          <p:cNvSpPr txBox="1"/>
          <p:nvPr/>
        </p:nvSpPr>
        <p:spPr>
          <a:xfrm>
            <a:off x="4689896" y="5178340"/>
            <a:ext cx="149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Geolocation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49" y="2345422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680" y="585584"/>
            <a:ext cx="3394455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11" y="2345422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458" t="28532" r="5845" b="27370"/>
          <a:stretch>
            <a:fillRect/>
          </a:stretch>
        </p:blipFill>
        <p:spPr>
          <a:xfrm>
            <a:off x="6723711" y="5054286"/>
            <a:ext cx="4905261" cy="13255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43924B-E8B2-9ADB-0729-48FC8FDE90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9915" y="4738214"/>
            <a:ext cx="2037033" cy="181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726" y="3186467"/>
            <a:ext cx="5640276" cy="29760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BBFD69-E6C1-8C7C-4BCC-06508B4CF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21" y="2174685"/>
            <a:ext cx="2820194" cy="874478"/>
          </a:xfrm>
          <a:prstGeom prst="rect">
            <a:avLst/>
          </a:prstGeom>
        </p:spPr>
      </p:pic>
      <p:pic>
        <p:nvPicPr>
          <p:cNvPr id="5" name="Picture 4" descr="Rf Shield Test Box - Steel, 12x12x12 Inches, 80 Db Shielding | Robust  Design, User Friendly, Powder Coated Finish at Best Price in Ahmedabad |  Hardik Electronics">
            <a:extLst>
              <a:ext uri="{FF2B5EF4-FFF2-40B4-BE49-F238E27FC236}">
                <a16:creationId xmlns:a16="http://schemas.microsoft.com/office/drawing/2014/main" id="{A1445AAE-B57A-E729-965C-56554FF9EC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701" y="829494"/>
            <a:ext cx="2758542" cy="1837189"/>
          </a:xfrm>
          <a:prstGeom prst="rect">
            <a:avLst/>
          </a:prstGeom>
        </p:spPr>
      </p:pic>
      <p:pic>
        <p:nvPicPr>
          <p:cNvPr id="6" name="Picture 5" descr="5G RF test equipment supports Release 17 - 5G Technology World">
            <a:extLst>
              <a:ext uri="{FF2B5EF4-FFF2-40B4-BE49-F238E27FC236}">
                <a16:creationId xmlns:a16="http://schemas.microsoft.com/office/drawing/2014/main" id="{B448118E-8D9F-99EE-8EA7-955C329D2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278" y="4640644"/>
            <a:ext cx="2221377" cy="1720397"/>
          </a:xfrm>
          <a:prstGeom prst="rect">
            <a:avLst/>
          </a:prstGeom>
        </p:spPr>
      </p:pic>
      <p:pic>
        <p:nvPicPr>
          <p:cNvPr id="7" name="Picture 6" descr="LabVIEW - LabVIEW Wiki">
            <a:extLst>
              <a:ext uri="{FF2B5EF4-FFF2-40B4-BE49-F238E27FC236}">
                <a16:creationId xmlns:a16="http://schemas.microsoft.com/office/drawing/2014/main" id="{B780BEFA-4C4F-7F7F-0A41-F911534B6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9438" y="3893356"/>
            <a:ext cx="879082" cy="1090062"/>
          </a:xfrm>
          <a:prstGeom prst="rect">
            <a:avLst/>
          </a:prstGeom>
        </p:spPr>
      </p:pic>
      <p:pic>
        <p:nvPicPr>
          <p:cNvPr id="11" name="Picture 10" descr="MATLAB Logo, symbol, meaning, history, PNG, brand">
            <a:extLst>
              <a:ext uri="{FF2B5EF4-FFF2-40B4-BE49-F238E27FC236}">
                <a16:creationId xmlns:a16="http://schemas.microsoft.com/office/drawing/2014/main" id="{90901E75-E335-D154-07A4-6378FA657A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9251" y="5210776"/>
            <a:ext cx="2093686" cy="11776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9B60C4-EDAC-D800-BB27-CC8E980F88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7849" y="1165860"/>
            <a:ext cx="1250092" cy="111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202301" y="2457294"/>
            <a:ext cx="4049717" cy="37639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Simulated environment 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Resiliency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Scenario Driven via Scripts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Detection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Radiometry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Cross Ambiguity Function (CAF)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5678BAD-A1DE-56BB-CDA8-7EBB42D28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309487"/>
              </p:ext>
            </p:extLst>
          </p:nvPr>
        </p:nvGraphicFramePr>
        <p:xfrm>
          <a:off x="3847416" y="2562500"/>
          <a:ext cx="7761179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884">
                  <a:extLst>
                    <a:ext uri="{9D8B030D-6E8A-4147-A177-3AD203B41FA5}">
                      <a16:colId xmlns:a16="http://schemas.microsoft.com/office/drawing/2014/main" val="1980304832"/>
                    </a:ext>
                  </a:extLst>
                </a:gridCol>
                <a:gridCol w="769620">
                  <a:extLst>
                    <a:ext uri="{9D8B030D-6E8A-4147-A177-3AD203B41FA5}">
                      <a16:colId xmlns:a16="http://schemas.microsoft.com/office/drawing/2014/main" val="1690345532"/>
                    </a:ext>
                  </a:extLst>
                </a:gridCol>
                <a:gridCol w="810939">
                  <a:extLst>
                    <a:ext uri="{9D8B030D-6E8A-4147-A177-3AD203B41FA5}">
                      <a16:colId xmlns:a16="http://schemas.microsoft.com/office/drawing/2014/main" val="2791382990"/>
                    </a:ext>
                  </a:extLst>
                </a:gridCol>
                <a:gridCol w="911181">
                  <a:extLst>
                    <a:ext uri="{9D8B030D-6E8A-4147-A177-3AD203B41FA5}">
                      <a16:colId xmlns:a16="http://schemas.microsoft.com/office/drawing/2014/main" val="328113193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4258871328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865205367"/>
                    </a:ext>
                  </a:extLst>
                </a:gridCol>
                <a:gridCol w="1120140">
                  <a:extLst>
                    <a:ext uri="{9D8B030D-6E8A-4147-A177-3AD203B41FA5}">
                      <a16:colId xmlns:a16="http://schemas.microsoft.com/office/drawing/2014/main" val="141980957"/>
                    </a:ext>
                  </a:extLst>
                </a:gridCol>
                <a:gridCol w="1253015">
                  <a:extLst>
                    <a:ext uri="{9D8B030D-6E8A-4147-A177-3AD203B41FA5}">
                      <a16:colId xmlns:a16="http://schemas.microsoft.com/office/drawing/2014/main" val="998907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BW</a:t>
                      </a:r>
                    </a:p>
                    <a:p>
                      <a:r>
                        <a:rPr lang="en-US" dirty="0"/>
                        <a:t>(kHz)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Ts</a:t>
                      </a:r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Sym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Rx Sensitivity</a:t>
                      </a:r>
                    </a:p>
                    <a:p>
                      <a:r>
                        <a:rPr lang="en-US" dirty="0"/>
                        <a:t>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Thermal noise estimate 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SNRmin</a:t>
                      </a:r>
                      <a:endParaRPr lang="en-US" dirty="0"/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Therm</a:t>
                      </a:r>
                      <a:r>
                        <a:rPr lang="en-US" dirty="0"/>
                        <a:t> noise)</a:t>
                      </a:r>
                    </a:p>
                    <a:p>
                      <a:r>
                        <a:rPr lang="en-US" dirty="0"/>
                        <a:t>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13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-133.6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22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658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5,468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00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21,875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18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03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1,171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34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92" y="2347674"/>
            <a:ext cx="4281225" cy="233278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4648898" y="2381538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in header file – adjusts dynamically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 descr="Frontend Developer Roadmap — Day 0: Visual Studio Code | by Eric van Rees |  Medium">
            <a:extLst>
              <a:ext uri="{FF2B5EF4-FFF2-40B4-BE49-F238E27FC236}">
                <a16:creationId xmlns:a16="http://schemas.microsoft.com/office/drawing/2014/main" id="{B7014906-8BA1-11A9-D793-AF4D2EA31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3312" y="511364"/>
            <a:ext cx="1942154" cy="1092254"/>
          </a:xfrm>
          <a:prstGeom prst="rect">
            <a:avLst/>
          </a:prstGeom>
        </p:spPr>
      </p:pic>
      <p:pic>
        <p:nvPicPr>
          <p:cNvPr id="5" name="Picture 4" descr="PlatformIO | Hackaday.io">
            <a:extLst>
              <a:ext uri="{FF2B5EF4-FFF2-40B4-BE49-F238E27FC236}">
                <a16:creationId xmlns:a16="http://schemas.microsoft.com/office/drawing/2014/main" id="{7C7AC548-2490-0046-3180-63C283465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61" y="511364"/>
            <a:ext cx="911723" cy="11173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BE1941-7C62-73FF-CFE4-F30AA42EE2C7}"/>
              </a:ext>
            </a:extLst>
          </p:cNvPr>
          <p:cNvSpPr txBox="1"/>
          <p:nvPr/>
        </p:nvSpPr>
        <p:spPr>
          <a:xfrm>
            <a:off x="8102733" y="1690873"/>
            <a:ext cx="3851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https://jgromes.github.io/RadioLib/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EC98F7-6B0D-C705-2431-DF0F32A19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92" y="4894632"/>
            <a:ext cx="4281226" cy="15259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D8C28E-EDC0-CCBC-F2AF-A4695BC173A8}"/>
              </a:ext>
            </a:extLst>
          </p:cNvPr>
          <p:cNvSpPr txBox="1"/>
          <p:nvPr/>
        </p:nvSpPr>
        <p:spPr>
          <a:xfrm>
            <a:off x="5351138" y="6177459"/>
            <a:ext cx="6389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https://github.com/Brycycle/WES-CAPSTONE</a:t>
            </a: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125D34-AD53-192C-DC65-CE3C47DAD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 Results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(CAF)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24D680-50EF-71AF-8E90-0E3914E2C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5FD709D-7B1E-7323-645B-F354BD5CF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44495" y="4670107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10.4k, BW 20k, BW 125k, BW 500k</a:t>
            </a:r>
            <a:endParaRPr lang="en-US" sz="12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125k, BW 500k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A889D6-FF80-FDE3-54FC-2D50C1946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4E9518-491B-EF64-E676-93702E3FE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541FF1-3195-8140-64EC-B3D63324D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5AA3E-DEAA-01DE-D2D0-2F577D02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AF7D579-A3AF-D439-D37E-9A3CF2E5DFE9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B5675-DE79-FDDD-02F7-C6C9F3793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8722" y="1695895"/>
            <a:ext cx="6335495" cy="4751623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80DA16E-DB31-25CA-B2BB-0BDDAF2D5EEB}"/>
              </a:ext>
            </a:extLst>
          </p:cNvPr>
          <p:cNvSpPr/>
          <p:nvPr/>
        </p:nvSpPr>
        <p:spPr>
          <a:xfrm>
            <a:off x="8387368" y="326254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C6C42E-C85B-E2B6-5B87-C213F4E42DF3}"/>
              </a:ext>
            </a:extLst>
          </p:cNvPr>
          <p:cNvSpPr/>
          <p:nvPr/>
        </p:nvSpPr>
        <p:spPr>
          <a:xfrm>
            <a:off x="8387368" y="24962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59F4CF-D39C-5695-83F3-F7AA945FA317}"/>
              </a:ext>
            </a:extLst>
          </p:cNvPr>
          <p:cNvSpPr/>
          <p:nvPr/>
        </p:nvSpPr>
        <p:spPr>
          <a:xfrm>
            <a:off x="8387368" y="45490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3BB9968-692B-595A-77D7-EBD6D021514D}"/>
              </a:ext>
            </a:extLst>
          </p:cNvPr>
          <p:cNvSpPr/>
          <p:nvPr/>
        </p:nvSpPr>
        <p:spPr>
          <a:xfrm>
            <a:off x="8387368" y="532768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D83FDD0-9F8F-9BE5-72A2-99714EB01531}"/>
              </a:ext>
            </a:extLst>
          </p:cNvPr>
          <p:cNvSpPr/>
          <p:nvPr/>
        </p:nvSpPr>
        <p:spPr>
          <a:xfrm>
            <a:off x="6798411" y="3930137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4358A17-5578-D367-674B-245683B7C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774522"/>
              </p:ext>
            </p:extLst>
          </p:nvPr>
        </p:nvGraphicFramePr>
        <p:xfrm>
          <a:off x="329731" y="2618095"/>
          <a:ext cx="4858571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1172579890"/>
                    </a:ext>
                  </a:extLst>
                </a:gridCol>
                <a:gridCol w="1644650">
                  <a:extLst>
                    <a:ext uri="{9D8B030D-6E8A-4147-A177-3AD203B41FA5}">
                      <a16:colId xmlns:a16="http://schemas.microsoft.com/office/drawing/2014/main" val="2748174769"/>
                    </a:ext>
                  </a:extLst>
                </a:gridCol>
                <a:gridCol w="1823271">
                  <a:extLst>
                    <a:ext uri="{9D8B030D-6E8A-4147-A177-3AD203B41FA5}">
                      <a16:colId xmlns:a16="http://schemas.microsoft.com/office/drawing/2014/main" val="2496370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Peak Area (square 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Data Rate (SF 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59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450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9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910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747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5,400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794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21,000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0143264"/>
                  </a:ext>
                </a:extLst>
              </a:tr>
            </a:tbl>
          </a:graphicData>
        </a:graphic>
      </p:graphicFrame>
      <p:sp>
        <p:nvSpPr>
          <p:cNvPr id="29" name="Title 1">
            <a:extLst>
              <a:ext uri="{FF2B5EF4-FFF2-40B4-BE49-F238E27FC236}">
                <a16:creationId xmlns:a16="http://schemas.microsoft.com/office/drawing/2014/main" id="{E4348EF4-CA1D-7688-A593-CB0A9798C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6879" y="75247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800998F-FF80-D8A9-6C77-79C430333F8B}"/>
              </a:ext>
            </a:extLst>
          </p:cNvPr>
          <p:cNvSpPr txBox="1">
            <a:spLocks/>
          </p:cNvSpPr>
          <p:nvPr/>
        </p:nvSpPr>
        <p:spPr>
          <a:xfrm>
            <a:off x="2601401" y="5670831"/>
            <a:ext cx="3879805" cy="933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Detector Location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Transmitter location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2940D98-79C9-EEF7-3E8D-6A3B15ABFFBF}"/>
              </a:ext>
            </a:extLst>
          </p:cNvPr>
          <p:cNvSpPr/>
          <p:nvPr/>
        </p:nvSpPr>
        <p:spPr>
          <a:xfrm>
            <a:off x="2894618" y="57601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FAD600C-E320-B115-EEA8-EC39903008A9}"/>
              </a:ext>
            </a:extLst>
          </p:cNvPr>
          <p:cNvSpPr/>
          <p:nvPr/>
        </p:nvSpPr>
        <p:spPr>
          <a:xfrm>
            <a:off x="2925247" y="6132544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67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0A36FB-E6AD-00AE-AB3A-585C613F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AA7095-CD64-1BE5-AB7D-7A45600F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78CF5-EAA4-141B-2E57-4E541C47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Probability of Detection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29EB64-8C5A-C849-AA28-61E73F98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FAE67-8581-F6DA-B751-3336DD8E7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8182032-5A61-1BA1-EBBE-433B9655BD4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E89281-772B-FBE4-BF40-95EFC1D834EF}"/>
              </a:ext>
            </a:extLst>
          </p:cNvPr>
          <p:cNvSpPr txBox="1">
            <a:spLocks/>
          </p:cNvSpPr>
          <p:nvPr/>
        </p:nvSpPr>
        <p:spPr>
          <a:xfrm>
            <a:off x="3434489" y="2037161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A9B2A76-9BDA-1B33-D2CE-5B9D55449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33" y="4386567"/>
            <a:ext cx="2658428" cy="199306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D4D1234-06F9-A7E5-D2BF-0786D3903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228" y="4386566"/>
            <a:ext cx="2658429" cy="199306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5B444F45-8252-9DFD-A56A-E2690B7863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25" y="4400529"/>
            <a:ext cx="2658430" cy="1993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3A4BC70-ED21-4987-1D93-2E01F580E7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489" y="4400529"/>
            <a:ext cx="2658430" cy="1993063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7BFB965-328E-04DE-734F-5B6A3783C71D}"/>
              </a:ext>
            </a:extLst>
          </p:cNvPr>
          <p:cNvSpPr txBox="1">
            <a:spLocks/>
          </p:cNvSpPr>
          <p:nvPr/>
        </p:nvSpPr>
        <p:spPr>
          <a:xfrm>
            <a:off x="7032038" y="559563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Slash Curve (Pd = .85)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2F174FD-9FA5-1F93-1921-FBF5151BEC92}"/>
              </a:ext>
            </a:extLst>
          </p:cNvPr>
          <p:cNvSpPr txBox="1">
            <a:spLocks/>
          </p:cNvSpPr>
          <p:nvPr/>
        </p:nvSpPr>
        <p:spPr>
          <a:xfrm>
            <a:off x="445460" y="635283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3A0F4473-2E36-CD22-C7D4-D00E99A5E6F1}"/>
              </a:ext>
            </a:extLst>
          </p:cNvPr>
          <p:cNvSpPr txBox="1">
            <a:spLocks/>
          </p:cNvSpPr>
          <p:nvPr/>
        </p:nvSpPr>
        <p:spPr>
          <a:xfrm>
            <a:off x="3347446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20520107-933C-8036-46BA-8F78CB5C9F82}"/>
              </a:ext>
            </a:extLst>
          </p:cNvPr>
          <p:cNvSpPr txBox="1">
            <a:spLocks/>
          </p:cNvSpPr>
          <p:nvPr/>
        </p:nvSpPr>
        <p:spPr>
          <a:xfrm>
            <a:off x="6043212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983DB896-3D2B-65DE-7858-B6FC1DC90CC6}"/>
              </a:ext>
            </a:extLst>
          </p:cNvPr>
          <p:cNvSpPr txBox="1">
            <a:spLocks/>
          </p:cNvSpPr>
          <p:nvPr/>
        </p:nvSpPr>
        <p:spPr>
          <a:xfrm>
            <a:off x="8738978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AE53AE9-F845-8443-69B9-E438DE889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038" y="976383"/>
            <a:ext cx="3173327" cy="237908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C2934D6D-0E1F-12D7-4016-3E2D41446F67}"/>
              </a:ext>
            </a:extLst>
          </p:cNvPr>
          <p:cNvSpPr txBox="1">
            <a:spLocks/>
          </p:cNvSpPr>
          <p:nvPr/>
        </p:nvSpPr>
        <p:spPr>
          <a:xfrm>
            <a:off x="-163437" y="2189658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Empirical Probability Calculations (MATLAB)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Receiver Operating Characteristic (ROC)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Data shown: LoRa SF 7 BW 125kHz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E3C3582-3389-00A3-D0F3-7AEBA784DC90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E63AF-6C4D-BA90-EFBD-0220FDAD52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09" y="3489364"/>
            <a:ext cx="1111876" cy="8335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2EB605-A861-CEC1-4F95-C0E825E410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069" y="3515466"/>
            <a:ext cx="1078745" cy="808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2B8BEB-42D1-819D-1805-E67FA1DEAA5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31" y="3541239"/>
            <a:ext cx="1078745" cy="808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AD85A0-E65D-847C-DCB0-7FE537400C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67" y="3540571"/>
            <a:ext cx="1078745" cy="80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22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DB136-31B1-1EAF-6816-439432A3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BF4105-B9F9-641E-7B9C-08F36264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2C2196-685E-B13B-CFFB-5152A10FA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AD6E22-9815-B72F-6AB1-DAC2571B7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C67EEED-42ED-3414-5897-D25EE40F6A7D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613A5756-462C-045C-0EA3-234C9167A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Detection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AE1939-A065-2EF6-24C7-489A71C62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134015"/>
              </p:ext>
            </p:extLst>
          </p:nvPr>
        </p:nvGraphicFramePr>
        <p:xfrm>
          <a:off x="465157" y="2901419"/>
          <a:ext cx="4505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763">
                  <a:extLst>
                    <a:ext uri="{9D8B030D-6E8A-4147-A177-3AD203B41FA5}">
                      <a16:colId xmlns:a16="http://schemas.microsoft.com/office/drawing/2014/main" val="1941735709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3785265048"/>
                    </a:ext>
                  </a:extLst>
                </a:gridCol>
                <a:gridCol w="1843917">
                  <a:extLst>
                    <a:ext uri="{9D8B030D-6E8A-4147-A177-3AD203B41FA5}">
                      <a16:colId xmlns:a16="http://schemas.microsoft.com/office/drawing/2014/main" val="793392802"/>
                    </a:ext>
                  </a:extLst>
                </a:gridCol>
              </a:tblGrid>
              <a:tr h="587667">
                <a:tc>
                  <a:txBody>
                    <a:bodyPr/>
                    <a:lstStyle/>
                    <a:p>
                      <a:r>
                        <a:rPr lang="en-US" dirty="0"/>
                        <a:t>Spread 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SNR for .85/.15 (Pd/Pfa)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63537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518976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289140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411299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84008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91345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852528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13151EB-AD76-BFFD-54B2-C2E72170E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2" y="1188520"/>
            <a:ext cx="3093736" cy="23873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ECC214-3183-CF06-900E-AE64A10A82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0" y="1188521"/>
            <a:ext cx="2920401" cy="238737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FB3E62-96D8-B4BD-4F4B-C95C5A690283}"/>
              </a:ext>
            </a:extLst>
          </p:cNvPr>
          <p:cNvCxnSpPr>
            <a:cxnSpLocks/>
          </p:cNvCxnSpPr>
          <p:nvPr/>
        </p:nvCxnSpPr>
        <p:spPr>
          <a:xfrm>
            <a:off x="9564649" y="1678645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1BAA39-B837-D02A-99CD-533C520BB414}"/>
              </a:ext>
            </a:extLst>
          </p:cNvPr>
          <p:cNvCxnSpPr>
            <a:cxnSpLocks/>
          </p:cNvCxnSpPr>
          <p:nvPr/>
        </p:nvCxnSpPr>
        <p:spPr>
          <a:xfrm>
            <a:off x="9189397" y="1678645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D60D256-D76D-6231-8D97-6665156D1B0B}"/>
              </a:ext>
            </a:extLst>
          </p:cNvPr>
          <p:cNvCxnSpPr>
            <a:cxnSpLocks/>
          </p:cNvCxnSpPr>
          <p:nvPr/>
        </p:nvCxnSpPr>
        <p:spPr>
          <a:xfrm>
            <a:off x="7277977" y="2192616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92C519-9BF0-1BBC-5464-254E2E081C22}"/>
              </a:ext>
            </a:extLst>
          </p:cNvPr>
          <p:cNvCxnSpPr>
            <a:cxnSpLocks/>
          </p:cNvCxnSpPr>
          <p:nvPr/>
        </p:nvCxnSpPr>
        <p:spPr>
          <a:xfrm>
            <a:off x="6095860" y="2192616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2AF95FE7-2B5D-A5B0-A58A-80538C2A8B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4" y="4145015"/>
            <a:ext cx="3093735" cy="2387376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98EC1DEA-1853-871D-5B0A-EBC9444DB813}"/>
              </a:ext>
            </a:extLst>
          </p:cNvPr>
          <p:cNvSpPr txBox="1">
            <a:spLocks/>
          </p:cNvSpPr>
          <p:nvPr/>
        </p:nvSpPr>
        <p:spPr>
          <a:xfrm>
            <a:off x="6905042" y="3686991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40CB611-4DAC-6EC2-0725-52D4C266F2A9}"/>
              </a:ext>
            </a:extLst>
          </p:cNvPr>
          <p:cNvSpPr txBox="1">
            <a:spLocks/>
          </p:cNvSpPr>
          <p:nvPr/>
        </p:nvSpPr>
        <p:spPr>
          <a:xfrm>
            <a:off x="7002642" y="70455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LoRa SF 7 BW 125kHz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F3C0B7A-3DC3-8E9A-7DD5-92D1AC82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2" y="4163842"/>
            <a:ext cx="2920401" cy="239886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65E7026-02E5-CBC9-1481-D4141FBB499F}"/>
              </a:ext>
            </a:extLst>
          </p:cNvPr>
          <p:cNvSpPr txBox="1">
            <a:spLocks/>
          </p:cNvSpPr>
          <p:nvPr/>
        </p:nvSpPr>
        <p:spPr>
          <a:xfrm>
            <a:off x="-24341" y="5935346"/>
            <a:ext cx="4878585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 = -25 dB SNR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453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58258-5BD3-9C29-E2B5-0AF8F38E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A796BE1-DC66-4263-F805-67779B984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18C44-5943-B803-C366-463EE2B66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5065D1-47C4-F914-32F1-9C1B1CEFE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3D1FD-82A0-5CAD-FED8-F3C3C0877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0D9B5B9-5E76-7F14-3FEC-8EBBE06A768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1FB4D86-D141-E46E-3F34-5F9FB81C9A54}"/>
              </a:ext>
            </a:extLst>
          </p:cNvPr>
          <p:cNvSpPr txBox="1">
            <a:spLocks/>
          </p:cNvSpPr>
          <p:nvPr/>
        </p:nvSpPr>
        <p:spPr>
          <a:xfrm>
            <a:off x="693186" y="221263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D5F5192C-6BEC-94A6-6597-284A00B6CA53}"/>
              </a:ext>
            </a:extLst>
          </p:cNvPr>
          <p:cNvSpPr txBox="1">
            <a:spLocks/>
          </p:cNvSpPr>
          <p:nvPr/>
        </p:nvSpPr>
        <p:spPr>
          <a:xfrm>
            <a:off x="6444712" y="2212636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Questionable validity of results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Recursive improvements to testbed, scripts, and codebase desired. 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Deficiencies/limitations: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Equipment 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Scripts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Codebase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Scenario</a:t>
            </a: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886ED76-467A-9BD5-B2B8-3526AF262ABD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FA617-60C8-C26F-7C1E-E12FD928F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88" y="2122014"/>
            <a:ext cx="4477924" cy="21376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29E472-8069-692F-FD55-B3F94A785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88" y="4330077"/>
            <a:ext cx="4477924" cy="2187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0FA69E-CAE0-8FFF-71A2-E30C0DC52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919" y="4330078"/>
            <a:ext cx="4490224" cy="219378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2097202-8DDB-7941-4917-45A78BBB9B26}"/>
              </a:ext>
            </a:extLst>
          </p:cNvPr>
          <p:cNvSpPr txBox="1">
            <a:spLocks/>
          </p:cNvSpPr>
          <p:nvPr/>
        </p:nvSpPr>
        <p:spPr>
          <a:xfrm>
            <a:off x="4374617" y="4023438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500kHz Results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DE0EE-4A9B-1C98-F5FB-B17EA0D36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21" y="549007"/>
            <a:ext cx="4476750" cy="123825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25CC22-6840-F705-738D-5599806FE35B}"/>
              </a:ext>
            </a:extLst>
          </p:cNvPr>
          <p:cNvSpPr txBox="1">
            <a:spLocks/>
          </p:cNvSpPr>
          <p:nvPr/>
        </p:nvSpPr>
        <p:spPr>
          <a:xfrm>
            <a:off x="7152031" y="216470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Scenario Visual (Script generated)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57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77E15-A57C-7522-A4AC-FCBBC9F7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F212F4-FE0E-0D19-C76C-82658B5FB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78E6B8-5D6A-1FB1-D894-C2B412B11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F9148-1E7C-4AA8-1008-9D3C38DA4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5F209A-B0F1-96F1-241B-511999C93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A563A-57BD-94A7-A6D2-F31452DD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256" y="4726563"/>
            <a:ext cx="3428514" cy="18730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C04C40-63F2-E430-1326-18D3513AD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523760"/>
              </p:ext>
            </p:extLst>
          </p:nvPr>
        </p:nvGraphicFramePr>
        <p:xfrm>
          <a:off x="5894717" y="3212570"/>
          <a:ext cx="455602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9536">
                  <a:extLst>
                    <a:ext uri="{9D8B030D-6E8A-4147-A177-3AD203B41FA5}">
                      <a16:colId xmlns:a16="http://schemas.microsoft.com/office/drawing/2014/main" val="673072292"/>
                    </a:ext>
                  </a:extLst>
                </a:gridCol>
                <a:gridCol w="2426491">
                  <a:extLst>
                    <a:ext uri="{9D8B030D-6E8A-4147-A177-3AD203B41FA5}">
                      <a16:colId xmlns:a16="http://schemas.microsoft.com/office/drawing/2014/main" val="1273582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LoRa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Starting Distance 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61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98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09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12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9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SF 12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61102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FB42AC4-FEA0-6A30-352F-41D0B937B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4" y="2452342"/>
            <a:ext cx="3633788" cy="193223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2AFCC2A-52F7-E0A9-5F79-9BDD82F0F34E}"/>
              </a:ext>
            </a:extLst>
          </p:cNvPr>
          <p:cNvSpPr txBox="1">
            <a:spLocks/>
          </p:cNvSpPr>
          <p:nvPr/>
        </p:nvSpPr>
        <p:spPr>
          <a:xfrm>
            <a:off x="0" y="214153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125kHz Results – Jam SNR greater?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ACB73F3-AFE6-767A-5A4F-BF28EC42F73C}"/>
              </a:ext>
            </a:extLst>
          </p:cNvPr>
          <p:cNvSpPr txBox="1">
            <a:spLocks/>
          </p:cNvSpPr>
          <p:nvPr/>
        </p:nvSpPr>
        <p:spPr>
          <a:xfrm>
            <a:off x="929500" y="4431837"/>
            <a:ext cx="4839011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10kHz Results – significant fluctuation, no falloff?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8E46BB-277F-8E9C-A129-D441BF01C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0499" y="723011"/>
            <a:ext cx="4048635" cy="22068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BB5D5-FA9C-6AEC-AE52-BAEF0FD6B287}"/>
              </a:ext>
            </a:extLst>
          </p:cNvPr>
          <p:cNvSpPr txBox="1">
            <a:spLocks/>
          </p:cNvSpPr>
          <p:nvPr/>
        </p:nvSpPr>
        <p:spPr>
          <a:xfrm>
            <a:off x="6603392" y="404972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20kHz Results – hard stop and jamming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142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9F415-A767-3B77-46A6-8CC37C5C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D3E6969-C12E-3DB7-E344-06F3074536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AC410A-E16D-8180-7825-F515CA0DF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67D3F-9B55-65E8-70D0-AED6D0F0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28CB59-A95F-3269-3685-560B7666A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8C69D1-CFB0-64D9-1EBF-F1D14C0B7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004" y="3069197"/>
            <a:ext cx="4242085" cy="13153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AE7795-E122-812D-CD77-14A9A3AFE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76" y="3069198"/>
            <a:ext cx="4033823" cy="13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6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13639</TotalTime>
  <Words>866</Words>
  <Application>Microsoft Office PowerPoint</Application>
  <PresentationFormat>Widescreen</PresentationFormat>
  <Paragraphs>240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Quantitative Evaluation of LoRa for DoD Applications</vt:lpstr>
      <vt:lpstr>Lots of Data, Results, and Interpretation….</vt:lpstr>
      <vt:lpstr>Resiliency, Detectability, and Geolocation of a Waveform </vt:lpstr>
      <vt:lpstr>Long Range (LoRa) Chirp Spread Spectrum (CSS)</vt:lpstr>
      <vt:lpstr>Test Bed and  Equipment</vt:lpstr>
      <vt:lpstr>Test Approach</vt:lpstr>
      <vt:lpstr>Development Efforts</vt:lpstr>
      <vt:lpstr>Geolocation Results  (CAF)</vt:lpstr>
      <vt:lpstr>Geolocation Analysis</vt:lpstr>
      <vt:lpstr>Probability of Detection  Results </vt:lpstr>
      <vt:lpstr>Detection Analysis</vt:lpstr>
      <vt:lpstr>Resiliency Results </vt:lpstr>
      <vt:lpstr>Resiliency  Analysis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15</cp:revision>
  <dcterms:created xsi:type="dcterms:W3CDTF">2026-03-31T19:56:18Z</dcterms:created>
  <dcterms:modified xsi:type="dcterms:W3CDTF">2026-06-07T19:41:55Z</dcterms:modified>
</cp:coreProperties>
</file>
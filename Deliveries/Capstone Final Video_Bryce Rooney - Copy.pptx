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67" r:id="rId4"/>
    <p:sldId id="270" r:id="rId5"/>
    <p:sldId id="271" r:id="rId6"/>
    <p:sldId id="272" r:id="rId7"/>
    <p:sldId id="283" r:id="rId8"/>
    <p:sldId id="285" r:id="rId9"/>
    <p:sldId id="286" r:id="rId10"/>
    <p:sldId id="287" r:id="rId11"/>
    <p:sldId id="288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36ACD-020F-4D73-8CFB-5E79BCD32D5A}" v="3" dt="2026-05-07T22:16:5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82412" autoAdjust="0"/>
  </p:normalViewPr>
  <p:slideViewPr>
    <p:cSldViewPr snapToGrid="0">
      <p:cViewPr varScale="1">
        <p:scale>
          <a:sx n="132" d="100"/>
          <a:sy n="132" d="100"/>
        </p:scale>
        <p:origin x="11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14E4AD74-DF90-47DB-80EB-A94A3623429B}"/>
    <pc:docChg chg="custSel addSld modSld sldOrd">
      <pc:chgData name="Rooney, Bryce Edward (53520) CIV USN NIWC PACIFIC CA (USA)" userId="802230dc-da13-4caa-9b75-cf409dfca0cb" providerId="ADAL" clId="{14E4AD74-DF90-47DB-80EB-A94A3623429B}" dt="2026-05-07T22:31:15.661" v="1232" actId="1076"/>
      <pc:docMkLst>
        <pc:docMk/>
      </pc:docMkLst>
      <pc:sldChg chg="modSp mod">
        <pc:chgData name="Rooney, Bryce Edward (53520) CIV USN NIWC PACIFIC CA (USA)" userId="802230dc-da13-4caa-9b75-cf409dfca0cb" providerId="ADAL" clId="{14E4AD74-DF90-47DB-80EB-A94A3623429B}" dt="2026-05-07T22:02:10.455" v="436" actId="20577"/>
        <pc:sldMkLst>
          <pc:docMk/>
          <pc:sldMk cId="1204101300" sldId="264"/>
        </pc:sldMkLst>
        <pc:spChg chg="mod">
          <ac:chgData name="Rooney, Bryce Edward (53520) CIV USN NIWC PACIFIC CA (USA)" userId="802230dc-da13-4caa-9b75-cf409dfca0cb" providerId="ADAL" clId="{14E4AD74-DF90-47DB-80EB-A94A3623429B}" dt="2026-05-07T22:02:10.455" v="436" actId="20577"/>
          <ac:spMkLst>
            <pc:docMk/>
            <pc:sldMk cId="1204101300" sldId="264"/>
            <ac:spMk id="14" creationId="{C60E67CD-3ABA-843D-DA36-A35E3AB8CE74}"/>
          </ac:spMkLst>
        </pc:spChg>
      </pc:sldChg>
      <pc:sldChg chg="addSp delSp modSp mod ord">
        <pc:chgData name="Rooney, Bryce Edward (53520) CIV USN NIWC PACIFIC CA (USA)" userId="802230dc-da13-4caa-9b75-cf409dfca0cb" providerId="ADAL" clId="{14E4AD74-DF90-47DB-80EB-A94A3623429B}" dt="2026-05-07T22:28:19.202" v="1075" actId="20577"/>
        <pc:sldMkLst>
          <pc:docMk/>
          <pc:sldMk cId="331372439" sldId="266"/>
        </pc:sldMkLst>
        <pc:spChg chg="mod">
          <ac:chgData name="Rooney, Bryce Edward (53520) CIV USN NIWC PACIFIC CA (USA)" userId="802230dc-da13-4caa-9b75-cf409dfca0cb" providerId="ADAL" clId="{14E4AD74-DF90-47DB-80EB-A94A3623429B}" dt="2026-05-07T22:28:19.202" v="1075" actId="20577"/>
          <ac:spMkLst>
            <pc:docMk/>
            <pc:sldMk cId="331372439" sldId="266"/>
            <ac:spMk id="14" creationId="{DC779FE1-AC4B-B488-A0E6-0869FB038228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18:23.390" v="0" actId="478"/>
          <ac:picMkLst>
            <pc:docMk/>
            <pc:sldMk cId="331372439" sldId="266"/>
            <ac:picMk id="3" creationId="{435219F0-6DE1-D15B-DBD9-D9FE1B5AB25A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1:18:27.315" v="2" actId="1076"/>
          <ac:picMkLst>
            <pc:docMk/>
            <pc:sldMk cId="331372439" sldId="266"/>
            <ac:picMk id="5" creationId="{D24C00B3-07C1-771D-E661-7992508B7C13}"/>
          </ac:picMkLst>
        </pc:picChg>
      </pc:sldChg>
      <pc:sldChg chg="modSp mod">
        <pc:chgData name="Rooney, Bryce Edward (53520) CIV USN NIWC PACIFIC CA (USA)" userId="802230dc-da13-4caa-9b75-cf409dfca0cb" providerId="ADAL" clId="{14E4AD74-DF90-47DB-80EB-A94A3623429B}" dt="2026-05-07T22:01:20.444" v="434" actId="20577"/>
        <pc:sldMkLst>
          <pc:docMk/>
          <pc:sldMk cId="1001622560" sldId="268"/>
        </pc:sldMkLst>
        <pc:spChg chg="mod">
          <ac:chgData name="Rooney, Bryce Edward (53520) CIV USN NIWC PACIFIC CA (USA)" userId="802230dc-da13-4caa-9b75-cf409dfca0cb" providerId="ADAL" clId="{14E4AD74-DF90-47DB-80EB-A94A3623429B}" dt="2026-05-07T22:01:20.444" v="434" actId="20577"/>
          <ac:spMkLst>
            <pc:docMk/>
            <pc:sldMk cId="1001622560" sldId="268"/>
            <ac:spMk id="3" creationId="{97FA8454-F80C-0215-BB29-E1C218B7C933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02:42.174" v="460" actId="20577"/>
        <pc:sldMkLst>
          <pc:docMk/>
          <pc:sldMk cId="967501478" sldId="269"/>
        </pc:sldMkLst>
        <pc:spChg chg="mod">
          <ac:chgData name="Rooney, Bryce Edward (53520) CIV USN NIWC PACIFIC CA (USA)" userId="802230dc-da13-4caa-9b75-cf409dfca0cb" providerId="ADAL" clId="{14E4AD74-DF90-47DB-80EB-A94A3623429B}" dt="2026-05-07T22:02:42.174" v="460" actId="20577"/>
          <ac:spMkLst>
            <pc:docMk/>
            <pc:sldMk cId="967501478" sldId="269"/>
            <ac:spMk id="2" creationId="{2D909B1D-3B3B-11E5-06CB-5D00EBCD7B0C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31:15.661" v="1232" actId="1076"/>
        <pc:sldMkLst>
          <pc:docMk/>
          <pc:sldMk cId="3184687460" sldId="270"/>
        </pc:sldMkLst>
        <pc:spChg chg="mod">
          <ac:chgData name="Rooney, Bryce Edward (53520) CIV USN NIWC PACIFIC CA (USA)" userId="802230dc-da13-4caa-9b75-cf409dfca0cb" providerId="ADAL" clId="{14E4AD74-DF90-47DB-80EB-A94A3623429B}" dt="2026-05-07T22:31:15.661" v="1232" actId="1076"/>
          <ac:spMkLst>
            <pc:docMk/>
            <pc:sldMk cId="3184687460" sldId="270"/>
            <ac:spMk id="7" creationId="{1B0AED33-CE42-BE71-5C63-18A838072787}"/>
          </ac:spMkLst>
        </pc:spChg>
        <pc:spChg chg="mod">
          <ac:chgData name="Rooney, Bryce Edward (53520) CIV USN NIWC PACIFIC CA (USA)" userId="802230dc-da13-4caa-9b75-cf409dfca0cb" providerId="ADAL" clId="{14E4AD74-DF90-47DB-80EB-A94A3623429B}" dt="2026-05-07T22:31:10.617" v="1229" actId="20577"/>
          <ac:spMkLst>
            <pc:docMk/>
            <pc:sldMk cId="3184687460" sldId="270"/>
            <ac:spMk id="9" creationId="{D70E59AB-06E1-E8D7-E432-2A8DC551D754}"/>
          </ac:spMkLst>
        </pc:spChg>
      </pc:sldChg>
      <pc:sldChg chg="addSp modSp mod">
        <pc:chgData name="Rooney, Bryce Edward (53520) CIV USN NIWC PACIFIC CA (USA)" userId="802230dc-da13-4caa-9b75-cf409dfca0cb" providerId="ADAL" clId="{14E4AD74-DF90-47DB-80EB-A94A3623429B}" dt="2026-05-07T22:23:10.216" v="996" actId="1076"/>
        <pc:sldMkLst>
          <pc:docMk/>
          <pc:sldMk cId="2902484084" sldId="271"/>
        </pc:sldMkLst>
        <pc:spChg chg="add mod">
          <ac:chgData name="Rooney, Bryce Edward (53520) CIV USN NIWC PACIFIC CA (USA)" userId="802230dc-da13-4caa-9b75-cf409dfca0cb" providerId="ADAL" clId="{14E4AD74-DF90-47DB-80EB-A94A3623429B}" dt="2026-05-07T22:23:10.216" v="996" actId="1076"/>
          <ac:spMkLst>
            <pc:docMk/>
            <pc:sldMk cId="2902484084" sldId="271"/>
            <ac:spMk id="7" creationId="{F981C5F4-A7D3-075A-2B97-180AB86758D3}"/>
          </ac:spMkLst>
        </pc:spChg>
        <pc:picChg chg="add mod">
          <ac:chgData name="Rooney, Bryce Edward (53520) CIV USN NIWC PACIFIC CA (USA)" userId="802230dc-da13-4caa-9b75-cf409dfca0cb" providerId="ADAL" clId="{14E4AD74-DF90-47DB-80EB-A94A3623429B}" dt="2026-05-07T22:07:43.450" v="468" actId="1076"/>
          <ac:picMkLst>
            <pc:docMk/>
            <pc:sldMk cId="2902484084" sldId="271"/>
            <ac:picMk id="4" creationId="{A061006B-D9CC-5E1F-66B1-CF31C1E6BF94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2:07:44.752" v="469" actId="1076"/>
          <ac:picMkLst>
            <pc:docMk/>
            <pc:sldMk cId="2902484084" sldId="271"/>
            <ac:picMk id="6" creationId="{064F98BF-12F0-A10C-55A9-8BFF6B9C4F6A}"/>
          </ac:picMkLst>
        </pc:picChg>
      </pc:sldChg>
      <pc:sldChg chg="addSp modSp mod">
        <pc:chgData name="Rooney, Bryce Edward (53520) CIV USN NIWC PACIFIC CA (USA)" userId="802230dc-da13-4caa-9b75-cf409dfca0cb" providerId="ADAL" clId="{14E4AD74-DF90-47DB-80EB-A94A3623429B}" dt="2026-05-07T22:26:44.178" v="1002" actId="1076"/>
        <pc:sldMkLst>
          <pc:docMk/>
          <pc:sldMk cId="3617148153" sldId="272"/>
        </pc:sldMkLst>
        <pc:picChg chg="add mod">
          <ac:chgData name="Rooney, Bryce Edward (53520) CIV USN NIWC PACIFIC CA (USA)" userId="802230dc-da13-4caa-9b75-cf409dfca0cb" providerId="ADAL" clId="{14E4AD74-DF90-47DB-80EB-A94A3623429B}" dt="2026-05-07T22:26:44.178" v="1002" actId="1076"/>
          <ac:picMkLst>
            <pc:docMk/>
            <pc:sldMk cId="3617148153" sldId="272"/>
            <ac:picMk id="4" creationId="{C75ACC9B-B187-BEC6-D922-B8A348C7106A}"/>
          </ac:picMkLst>
        </pc:picChg>
      </pc:sldChg>
      <pc:sldChg chg="addSp delSp modSp add mod">
        <pc:chgData name="Rooney, Bryce Edward (53520) CIV USN NIWC PACIFIC CA (USA)" userId="802230dc-da13-4caa-9b75-cf409dfca0cb" providerId="ADAL" clId="{14E4AD74-DF90-47DB-80EB-A94A3623429B}" dt="2026-05-07T22:29:09.298" v="1083" actId="1076"/>
        <pc:sldMkLst>
          <pc:docMk/>
          <pc:sldMk cId="2111630354" sldId="274"/>
        </pc:sldMkLst>
        <pc:spChg chg="mod">
          <ac:chgData name="Rooney, Bryce Edward (53520) CIV USN NIWC PACIFIC CA (USA)" userId="802230dc-da13-4caa-9b75-cf409dfca0cb" providerId="ADAL" clId="{14E4AD74-DF90-47DB-80EB-A94A3623429B}" dt="2026-05-07T21:45:29.161" v="47" actId="1076"/>
          <ac:spMkLst>
            <pc:docMk/>
            <pc:sldMk cId="2111630354" sldId="274"/>
            <ac:spMk id="2" creationId="{BD807B94-783F-321B-210B-042E2754F32B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8:56.014" v="1080" actId="1076"/>
          <ac:spMkLst>
            <pc:docMk/>
            <pc:sldMk cId="2111630354" sldId="274"/>
            <ac:spMk id="3" creationId="{194578F6-62C3-5038-979B-60A62E088FEF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9:09.298" v="1083" actId="1076"/>
          <ac:spMkLst>
            <pc:docMk/>
            <pc:sldMk cId="2111630354" sldId="274"/>
            <ac:spMk id="4" creationId="{13F79579-C895-36D9-923C-2B7524746A47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45:15.301" v="18" actId="478"/>
          <ac:picMkLst>
            <pc:docMk/>
            <pc:sldMk cId="2111630354" sldId="274"/>
            <ac:picMk id="7" creationId="{6698483E-B614-7732-91DD-B2659C6C7639}"/>
          </ac:picMkLst>
        </pc:picChg>
        <pc:picChg chg="del">
          <ac:chgData name="Rooney, Bryce Edward (53520) CIV USN NIWC PACIFIC CA (USA)" userId="802230dc-da13-4caa-9b75-cf409dfca0cb" providerId="ADAL" clId="{14E4AD74-DF90-47DB-80EB-A94A3623429B}" dt="2026-05-07T21:45:15.819" v="19" actId="478"/>
          <ac:picMkLst>
            <pc:docMk/>
            <pc:sldMk cId="2111630354" sldId="274"/>
            <ac:picMk id="11" creationId="{1D2D851B-E512-EA02-A650-48C30EDA78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7381-5F87-4AAF-8B41-540099760EE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20E48-8229-437F-BCF6-DF44AFB63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2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Modulation uses “Chirps” – linear sweeps in frequency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Receiver Sensitivity can be below thermal noise floor – valuable for range and resiliency performance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 dev board (Semtech SX1262)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9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results to find. Google scholar</a:t>
            </a:r>
          </a:p>
          <a:p>
            <a:endParaRPr lang="en-US" dirty="0"/>
          </a:p>
          <a:p>
            <a:r>
              <a:rPr lang="en-US" dirty="0"/>
              <a:t>Connected papers</a:t>
            </a:r>
          </a:p>
          <a:p>
            <a:endParaRPr lang="en-US" dirty="0"/>
          </a:p>
          <a:p>
            <a:r>
              <a:rPr lang="en-US" dirty="0"/>
              <a:t>This weekend.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7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EW cert</a:t>
            </a:r>
          </a:p>
          <a:p>
            <a:endParaRPr lang="en-US" dirty="0"/>
          </a:p>
          <a:p>
            <a:r>
              <a:rPr lang="en-US" dirty="0"/>
              <a:t>RSSI values in ACK, SNR</a:t>
            </a:r>
          </a:p>
          <a:p>
            <a:endParaRPr lang="en-US" dirty="0"/>
          </a:p>
          <a:p>
            <a:r>
              <a:rPr lang="en-US" dirty="0"/>
              <a:t>Other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5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recorders, 6 2 point CAF outputs combined</a:t>
            </a:r>
          </a:p>
          <a:p>
            <a:r>
              <a:rPr lang="en-US" dirty="0"/>
              <a:t>No multipath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37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SF7 125k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1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04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EAB9-7800-84D0-E70C-7D96677E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C7781-D20B-43B4-32C0-C6ABC6C78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5CC1-8E0C-C5D2-4084-C4A8528B5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SF7 500k example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RFN resolution of attenuation steps at 2nm increments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RFN handling jam-1 and SNR seen at 1-2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hardcoded scripts only 60nm movement - too short for LoRa?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emulated jammer negligible, but legal and easily obtained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vs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goodut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2572-B253-E8EB-F22B-0FF47E878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56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3B15-80A7-8142-B7F6-D51BAD43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5FB71-CECF-D7D2-CD0A-EB0E7668F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71F64-874B-5568-17F8-B0CBC444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38910-B680-05C3-838D-717918E3F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7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39C1-50E4-8168-77F0-93554042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83772-92E7-0DC4-454A-2FE855CEE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8A5CC-F56B-2A0C-F3A2-6830B2803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F7BF7-6996-1924-C1B6-C7056A655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62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D779-46FE-0800-96C4-1E424163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AD610-46CE-0F80-EBE8-DEA354A7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F7F-A8A2-AFDF-503C-CF3A1D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5175-4BBA-185A-16DB-6A0FEC1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33B79-29E4-31BA-5760-E43C59F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139-E360-A1CB-5DE9-86388541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E040-A830-460C-92E9-7ACDADD9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2BA4-7FCD-9D74-B059-EE0CD8F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E640-F9EA-7A9B-42F0-8DB84D7E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0625-8BC2-9004-73A0-59567430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08FB-25FD-D830-3669-12857F0D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AC46-5989-8B74-88EE-FEC7E7BB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9FF6-CB2B-4A00-52A1-F2830053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F62A-DC80-128B-DEFF-030F826E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8A43-9479-913D-979C-DE4F7C4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006-B980-E738-A31D-C830AA7E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90BD-A052-556A-EE1C-F95E151A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56D3-384F-5ED6-24F0-B2435E5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DB69-E110-FE45-A9E7-22C0CCD0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76D8-F456-D950-DA1F-F8E06902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C8DC-9516-F4DC-FD34-4735CE9A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B991-3EEF-2465-E131-744F3B9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54D10-86A4-F22A-D9CD-4B11AAA4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43B7-ABF6-BA18-1041-22025D68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FE6EE-74AF-9163-D07C-BFA7F7BC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EF255-23C7-9C03-3302-C2C115DBD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8F64-BAF5-5750-8A1D-54A6C5C1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CA972-FACC-4C38-2AEF-EBE5880F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466A9-9575-56B2-D488-1AD9070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D36C-7726-65B1-55BF-8E46A06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EB070-53EB-A6EB-6491-DDAEB2F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5429-D7FD-92F1-16CA-DEA0BFB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CBE6-F74C-0692-0C2E-3BFB896D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74C44-4691-C5FB-2C68-3AE557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F190-80F9-0D18-6F37-A6DCB72A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B836-DE6B-468C-333A-4ED71A74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114-6406-37AC-F42C-F7A2CB6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0EDC-C996-0CE5-F8D1-52E2B09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2D745-5704-7451-843D-608A43C5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3626-17C1-34C0-D5C6-E035590E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62C9-FFB6-A8B4-FE22-B0BDAD9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4789-7EAB-6E3D-ABC1-4F9F2ACD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C243-EB89-857A-69A9-FF4E9E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A6184-7146-2BD4-E5E3-27566B99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F574-D333-9940-0B8F-E09062C6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D058-92A3-2514-163B-A410FD27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A9EC-E5C9-498C-EFCD-DD82A68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CDF7-9513-7014-C6F1-82DF2A6A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079E-3D42-8A2C-B38F-47168C54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9E55-D44B-2C42-519E-BED80194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4799-CF88-E2FE-21F5-C45AAD7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4004-16DE-71D3-F095-D899F0B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BFF8-BDCE-70FD-7AFF-F5A3C541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DE058-0EA3-E22D-D40B-C44C04C38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62721-450E-25B7-12CD-37E64F641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9F8-AD21-58B3-01AA-2EB2DC93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743-D397-5245-8050-FCF27B8B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9616-BB49-28F7-D0BD-460D5A9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E20D5-BD04-A241-049F-279CB52B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2F03-4EBD-B653-8928-BF9332BD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47C2-36E3-A67C-916A-BC4ACDD8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F960-87D0-487C-BD50-BC6BA87EEF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0DE2-9CA1-2827-1628-19449584F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4AEA-1AE2-0274-97C9-3E3B0ED1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8180A-64C9-2A9B-CFB0-FCF2F7E35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352" y="932657"/>
            <a:ext cx="838584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</a:rPr>
              <a:t>Quantitative Evaluation of LoRa for DoD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48C1-0882-A141-789A-AEFE16707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12" y="4252913"/>
            <a:ext cx="8071697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University of California, San Diego (UCSD)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Master’s of Advance Study (MAS)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Wireless Embedded Systems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Bryce Rooney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88EA4-9524-AE2E-6EFB-5DCD326F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6D6F94-1F98-5D46-E8EE-C07D5EC3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21AD-ED48-C5A5-0978-55FEA2BA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407521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</a:rPr>
              <a:t>Resiliency, Detectability, and Geolocation of a Waveform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26111A-2986-42D9-3EF4-91C8C1BEF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8454-F80C-0215-BB29-E1C218B7C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16" y="2319597"/>
            <a:ext cx="6906337" cy="915447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Collaboration with Naval Information Warfare Center, Pacific (NIWC Pac) Division 535</a:t>
            </a:r>
          </a:p>
          <a:p>
            <a:pPr marL="0" indent="0">
              <a:buNone/>
            </a:pP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58B89-650C-5A2B-44D0-3001B6EB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6ED0A-4523-2FE4-04E5-8F7E22153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592" y="1264340"/>
            <a:ext cx="245745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76A5D-312C-A38B-04DD-19E387CBA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0580"/>
            <a:ext cx="2628900" cy="857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579B3-47A5-6D3A-A27D-1582CA4C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7443" y="4765440"/>
            <a:ext cx="1576259" cy="1576259"/>
          </a:xfrm>
          <a:prstGeom prst="rect">
            <a:avLst/>
          </a:prstGeom>
          <a:noFill/>
        </p:spPr>
      </p:pic>
      <p:pic>
        <p:nvPicPr>
          <p:cNvPr id="11" name="Picture 10" descr="A Multi-Pulse Cross Ambiguity Function for the Wideband TDOA and FDOA to  Locate an Emitter Passively">
            <a:extLst>
              <a:ext uri="{FF2B5EF4-FFF2-40B4-BE49-F238E27FC236}">
                <a16:creationId xmlns:a16="http://schemas.microsoft.com/office/drawing/2014/main" id="{9C0EFAD4-EFCE-66FB-32C4-CD5C2673E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777" y="3390712"/>
            <a:ext cx="2148922" cy="1680066"/>
          </a:xfrm>
          <a:prstGeom prst="rect">
            <a:avLst/>
          </a:prstGeom>
        </p:spPr>
      </p:pic>
      <p:pic>
        <p:nvPicPr>
          <p:cNvPr id="13" name="Picture 12" descr="How We Suppress Jamming in Defense Radar Using MVDR (Without Losing the  Target) | by Satvik singh | Medium">
            <a:extLst>
              <a:ext uri="{FF2B5EF4-FFF2-40B4-BE49-F238E27FC236}">
                <a16:creationId xmlns:a16="http://schemas.microsoft.com/office/drawing/2014/main" id="{07A05508-6F32-F333-C775-A74D564C3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88" y="3561867"/>
            <a:ext cx="1616473" cy="1616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00D533-6BA5-6E4A-A107-E605FB616FA0}"/>
              </a:ext>
            </a:extLst>
          </p:cNvPr>
          <p:cNvSpPr txBox="1"/>
          <p:nvPr/>
        </p:nvSpPr>
        <p:spPr>
          <a:xfrm>
            <a:off x="6856752" y="3183217"/>
            <a:ext cx="48764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Resiliency</a:t>
            </a:r>
            <a:r>
              <a:rPr lang="en-US" sz="1800" dirty="0">
                <a:solidFill>
                  <a:schemeClr val="bg1"/>
                </a:solidFill>
              </a:rPr>
              <a:t> – How well does a waveform perform in the presence of noise, interference and/or at range?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Detectability</a:t>
            </a:r>
            <a:r>
              <a:rPr lang="en-US" sz="1800" dirty="0">
                <a:solidFill>
                  <a:schemeClr val="bg1"/>
                </a:solidFill>
              </a:rPr>
              <a:t> – How easy is the presence of the active waveform to detect?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Geolocation</a:t>
            </a:r>
            <a:r>
              <a:rPr lang="en-US" sz="1800" dirty="0">
                <a:solidFill>
                  <a:schemeClr val="bg1"/>
                </a:solidFill>
              </a:rPr>
              <a:t> – How precise can a transmitter be located?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46CC8-25DB-AEF4-FD6B-EDAA99E459B5}"/>
              </a:ext>
            </a:extLst>
          </p:cNvPr>
          <p:cNvSpPr txBox="1"/>
          <p:nvPr/>
        </p:nvSpPr>
        <p:spPr>
          <a:xfrm>
            <a:off x="679256" y="5205563"/>
            <a:ext cx="120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Resiliency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A79CCB-5DCD-CA38-C9CB-B91988C96426}"/>
              </a:ext>
            </a:extLst>
          </p:cNvPr>
          <p:cNvSpPr txBox="1"/>
          <p:nvPr/>
        </p:nvSpPr>
        <p:spPr>
          <a:xfrm>
            <a:off x="2474728" y="4338512"/>
            <a:ext cx="1687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Detectability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373013-F91A-8EB4-5667-00D91E438449}"/>
              </a:ext>
            </a:extLst>
          </p:cNvPr>
          <p:cNvSpPr txBox="1"/>
          <p:nvPr/>
        </p:nvSpPr>
        <p:spPr>
          <a:xfrm>
            <a:off x="4689896" y="5178340"/>
            <a:ext cx="149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Geolocation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2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2C59-08BB-7AF2-E330-4B9A2934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5982F8-5AD1-A40A-98E0-65F7BF0B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51393-590F-0B5E-15B8-D1019DB2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76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Long Range (LoRa) Chirp Spread Spectrum (CSS)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88D1F-4E09-F6B4-54D1-A355244E5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8045BFE-20D0-AF27-791A-DEB09A3D4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2806CC9-4B5A-7651-3360-3FA75196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9" y="2345422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 dev board (Semtech SX1262)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4C59-42AA-26A4-4A83-A70DD90A6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80" y="585584"/>
            <a:ext cx="3394455" cy="14995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1A05A1-A53C-CCF2-558F-6A9783BA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711" y="2345422"/>
            <a:ext cx="2628885" cy="2274588"/>
          </a:xfrm>
          <a:prstGeom prst="rect">
            <a:avLst/>
          </a:prstGeom>
        </p:spPr>
      </p:pic>
      <p:pic>
        <p:nvPicPr>
          <p:cNvPr id="19" name="Picture 18" descr="Casually Chirping Into The World Of LoRaWAN | Hackaday">
            <a:extLst>
              <a:ext uri="{FF2B5EF4-FFF2-40B4-BE49-F238E27FC236}">
                <a16:creationId xmlns:a16="http://schemas.microsoft.com/office/drawing/2014/main" id="{1A02009B-2622-FF89-EB30-4EB52E2FE0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58" t="28532" r="5845" b="27370"/>
          <a:stretch>
            <a:fillRect/>
          </a:stretch>
        </p:blipFill>
        <p:spPr>
          <a:xfrm>
            <a:off x="6723711" y="5054286"/>
            <a:ext cx="4905261" cy="1325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0AA778-0125-5E7E-76E9-4EE888176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283" y="4755823"/>
            <a:ext cx="2372668" cy="16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0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636A-5D4D-C4E7-8D4A-9CCC92F8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7D1FD6-55B8-C158-46BF-80A412A1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50285-E49A-946B-971A-FD65171F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Approach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F13B51-0B0A-EA1E-ACA5-D6C0066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146D-1CB4-94CA-8DB3-759CF41A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0E59AB-06E1-E8D7-E432-2A8DC551D754}"/>
              </a:ext>
            </a:extLst>
          </p:cNvPr>
          <p:cNvSpPr txBox="1">
            <a:spLocks/>
          </p:cNvSpPr>
          <p:nvPr/>
        </p:nvSpPr>
        <p:spPr>
          <a:xfrm>
            <a:off x="-167534" y="2381539"/>
            <a:ext cx="3923511" cy="2348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Iterative testing against various LoRa Configurations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Spread Factor (SF) and Bandwidth (BW) variations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Scenario Defined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Gaussian Noise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Radiometry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Cross Ambiguity Function (CAF)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Scripts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Simulated environment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E4AA20-0774-9AF4-B9DE-CDC1917728B2}"/>
              </a:ext>
            </a:extLst>
          </p:cNvPr>
          <p:cNvSpPr txBox="1">
            <a:spLocks/>
          </p:cNvSpPr>
          <p:nvPr/>
        </p:nvSpPr>
        <p:spPr>
          <a:xfrm>
            <a:off x="7071466" y="2781589"/>
            <a:ext cx="3923511" cy="234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Limitations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/LoRa Code development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Available hardware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Scripts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Scenarios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68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F5A1-D455-3596-F19B-B7BC8FD3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55A61-6C26-8D67-CA8A-9550D8C5E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2C82C-B7F4-46E1-8A7F-A5BD7BD4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Development Efforts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FDA1D5-1D54-4D80-A9D2-DDCECBC5C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8D8D4-EEB6-8ECE-9853-1F6346D49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1006B-D9CC-5E1F-66B1-CF31C1E6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73" y="2216944"/>
            <a:ext cx="3553358" cy="1936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4F98BF-12F0-A10C-55A9-8BFF6B9C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913" y="4343198"/>
            <a:ext cx="4092596" cy="220953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81C5F4-A7D3-075A-2B97-180AB86758D3}"/>
              </a:ext>
            </a:extLst>
          </p:cNvPr>
          <p:cNvSpPr txBox="1">
            <a:spLocks/>
          </p:cNvSpPr>
          <p:nvPr/>
        </p:nvSpPr>
        <p:spPr>
          <a:xfrm>
            <a:off x="5273738" y="2273149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LoRa development boards (</a:t>
            </a: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Visual Studio Code C++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Platform IO extension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“Application” traffic exercises waveform signal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50B payload transmitted ~once per second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ACK/NACK between the two with output logging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Single code base for quick uploads between test configs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SF and BW inputs with dynamic protocol adjustment to minimize iterative testing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Code base works as ACK device or Tx device with button toggle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8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CBB82-385B-E296-3D17-5F032FB4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1D198E-F60A-9651-2339-335E1A7CA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5C13E-BF79-4159-CC29-93CDF66B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Bed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2AEE75-FB0B-48D1-D829-1DD5F095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7ADA0-CEEF-E84A-8FB5-92B41022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CC9B-B187-BEC6-D922-B8A348C7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25" y="2237471"/>
            <a:ext cx="8201022" cy="43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4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F9A59-EDB1-9965-5161-8972E6A6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125D34-AD53-192C-DC65-CE3C47DAD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3C530-C6C0-32B3-41BA-5EE8E494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Geolocation Results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(CAF)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24D680-50EF-71AF-8E90-0E3914E2C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D709D-7B1E-7323-645B-F354BD5CF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4A05FA7-461D-45A8-EF6C-D907C2EEDBF8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C046A-BD8C-C07B-BC8E-61F68B7BD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3" y="2224669"/>
            <a:ext cx="2585742" cy="1939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08407-485F-25C8-A1EA-0F32ED693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823" y="2224669"/>
            <a:ext cx="2585743" cy="1939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E75C2B-A374-7E03-157A-68B2F7E88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054" y="2224669"/>
            <a:ext cx="2585740" cy="19393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E8D1EC-8FE8-5EDC-F1A0-291D3F3093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2" y="2224669"/>
            <a:ext cx="2585742" cy="19393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3D7CB9-D20E-1B63-1CDF-C8F7BD2F7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3690"/>
            <a:ext cx="2585742" cy="19393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E180AB-1630-CC93-2901-A35BC9D0C4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4" y="4393692"/>
            <a:ext cx="2585740" cy="193930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8450950-2DD0-B24D-12B6-6B816BBD23ED}"/>
              </a:ext>
            </a:extLst>
          </p:cNvPr>
          <p:cNvSpPr txBox="1">
            <a:spLocks/>
          </p:cNvSpPr>
          <p:nvPr/>
        </p:nvSpPr>
        <p:spPr>
          <a:xfrm>
            <a:off x="44495" y="4670107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Top SF 7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(Left-right) BW 10.4k, BW 20k, BW 125k, BW 500k</a:t>
            </a:r>
            <a:endParaRPr lang="en-US" sz="1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Bottom SF 12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(Left-right) BW 125k, BW 500k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7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889D6-FF80-FDE3-54FC-2D50C194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4E9518-491B-EF64-E676-93702E3F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541FF1-3195-8140-64EC-B3D63324D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5AA3E-DEAA-01DE-D2D0-2F577D02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F7D579-A3AF-D439-D37E-9A3CF2E5DFE9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B5675-DE79-FDDD-02F7-C6C9F3793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22" y="1695895"/>
            <a:ext cx="6335495" cy="475162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80DA16E-DB31-25CA-B2BB-0BDDAF2D5EEB}"/>
              </a:ext>
            </a:extLst>
          </p:cNvPr>
          <p:cNvSpPr/>
          <p:nvPr/>
        </p:nvSpPr>
        <p:spPr>
          <a:xfrm>
            <a:off x="8387368" y="3262549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C6C42E-C85B-E2B6-5B87-C213F4E42DF3}"/>
              </a:ext>
            </a:extLst>
          </p:cNvPr>
          <p:cNvSpPr/>
          <p:nvPr/>
        </p:nvSpPr>
        <p:spPr>
          <a:xfrm>
            <a:off x="8387368" y="2496287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59F4CF-D39C-5695-83F3-F7AA945FA317}"/>
              </a:ext>
            </a:extLst>
          </p:cNvPr>
          <p:cNvSpPr/>
          <p:nvPr/>
        </p:nvSpPr>
        <p:spPr>
          <a:xfrm>
            <a:off x="8387368" y="45490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BB9968-692B-595A-77D7-EBD6D021514D}"/>
              </a:ext>
            </a:extLst>
          </p:cNvPr>
          <p:cNvSpPr/>
          <p:nvPr/>
        </p:nvSpPr>
        <p:spPr>
          <a:xfrm>
            <a:off x="8387368" y="532768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83FDD0-9F8F-9BE5-72A2-99714EB01531}"/>
              </a:ext>
            </a:extLst>
          </p:cNvPr>
          <p:cNvSpPr/>
          <p:nvPr/>
        </p:nvSpPr>
        <p:spPr>
          <a:xfrm>
            <a:off x="6798411" y="3930137"/>
            <a:ext cx="114001" cy="1102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4358A17-5578-D367-674B-245683B7C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74522"/>
              </p:ext>
            </p:extLst>
          </p:nvPr>
        </p:nvGraphicFramePr>
        <p:xfrm>
          <a:off x="329731" y="2618095"/>
          <a:ext cx="485857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117257989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748174769"/>
                    </a:ext>
                  </a:extLst>
                </a:gridCol>
                <a:gridCol w="1823271">
                  <a:extLst>
                    <a:ext uri="{9D8B030D-6E8A-4147-A177-3AD203B41FA5}">
                      <a16:colId xmlns:a16="http://schemas.microsoft.com/office/drawing/2014/main" val="2496370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Peak Area (square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Effective Data Rate (SF 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45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450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910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74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5,400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94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21,000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43264"/>
                  </a:ext>
                </a:extLst>
              </a:tr>
            </a:tbl>
          </a:graphicData>
        </a:graphic>
      </p:graphicFrame>
      <p:sp>
        <p:nvSpPr>
          <p:cNvPr id="29" name="Title 1">
            <a:extLst>
              <a:ext uri="{FF2B5EF4-FFF2-40B4-BE49-F238E27FC236}">
                <a16:creationId xmlns:a16="http://schemas.microsoft.com/office/drawing/2014/main" id="{E4348EF4-CA1D-7688-A593-CB0A9798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6879" y="75247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Geolocation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800998F-FF80-D8A9-6C77-79C430333F8B}"/>
              </a:ext>
            </a:extLst>
          </p:cNvPr>
          <p:cNvSpPr txBox="1">
            <a:spLocks/>
          </p:cNvSpPr>
          <p:nvPr/>
        </p:nvSpPr>
        <p:spPr>
          <a:xfrm>
            <a:off x="2601401" y="5670831"/>
            <a:ext cx="3879805" cy="93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Detector Location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Transmitter location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2940D98-79C9-EEF7-3E8D-6A3B15ABFFBF}"/>
              </a:ext>
            </a:extLst>
          </p:cNvPr>
          <p:cNvSpPr/>
          <p:nvPr/>
        </p:nvSpPr>
        <p:spPr>
          <a:xfrm>
            <a:off x="2894618" y="5760187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FAD600C-E320-B115-EEA8-EC39903008A9}"/>
              </a:ext>
            </a:extLst>
          </p:cNvPr>
          <p:cNvSpPr/>
          <p:nvPr/>
        </p:nvSpPr>
        <p:spPr>
          <a:xfrm>
            <a:off x="2925247" y="6132544"/>
            <a:ext cx="114001" cy="1102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6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A36FB-E6AD-00AE-AB3A-585C613F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AA7095-CD64-1BE5-AB7D-7A45600FC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278CF5-EAA4-141B-2E57-4E541C47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Probability of Detection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29EB64-8C5A-C849-AA28-61E73F98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FAE67-8581-F6DA-B751-3336DD8E7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8182032-5A61-1BA1-EBBE-433B9655BD4E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7E89281-772B-FBE4-BF40-95EFC1D834EF}"/>
              </a:ext>
            </a:extLst>
          </p:cNvPr>
          <p:cNvSpPr txBox="1">
            <a:spLocks/>
          </p:cNvSpPr>
          <p:nvPr/>
        </p:nvSpPr>
        <p:spPr>
          <a:xfrm>
            <a:off x="693186" y="2212636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90DC9B-83B6-55D4-55F7-66BBFB56D710}"/>
              </a:ext>
            </a:extLst>
          </p:cNvPr>
          <p:cNvSpPr txBox="1">
            <a:spLocks/>
          </p:cNvSpPr>
          <p:nvPr/>
        </p:nvSpPr>
        <p:spPr>
          <a:xfrm>
            <a:off x="-106121" y="3956439"/>
            <a:ext cx="313793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ROC Perfect Classifier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A5D37E6-B5E8-C647-CF64-82859992E147}"/>
              </a:ext>
            </a:extLst>
          </p:cNvPr>
          <p:cNvSpPr txBox="1">
            <a:spLocks/>
          </p:cNvSpPr>
          <p:nvPr/>
        </p:nvSpPr>
        <p:spPr>
          <a:xfrm>
            <a:off x="8051612" y="4034763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ROC Near-Randon Classifier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9B2A76-9BDA-1B33-D2CE-5B9D5544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3" y="4386567"/>
            <a:ext cx="2658428" cy="19930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4D1234-06F9-A7E5-D2BF-0786D390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228" y="4386566"/>
            <a:ext cx="2658429" cy="199306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444F45-8252-9DFD-A56A-E2690B7863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25" y="4400529"/>
            <a:ext cx="2658430" cy="19930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3A4BC70-ED21-4987-1D93-2E01F580E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489" y="4400529"/>
            <a:ext cx="2658430" cy="1993063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7BFB965-328E-04DE-734F-5B6A3783C71D}"/>
              </a:ext>
            </a:extLst>
          </p:cNvPr>
          <p:cNvSpPr txBox="1">
            <a:spLocks/>
          </p:cNvSpPr>
          <p:nvPr/>
        </p:nvSpPr>
        <p:spPr>
          <a:xfrm>
            <a:off x="7935933" y="654024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Slash Curve (Pd = .85)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2F174FD-9FA5-1F93-1921-FBF5151BEC92}"/>
              </a:ext>
            </a:extLst>
          </p:cNvPr>
          <p:cNvSpPr txBox="1">
            <a:spLocks/>
          </p:cNvSpPr>
          <p:nvPr/>
        </p:nvSpPr>
        <p:spPr>
          <a:xfrm>
            <a:off x="445460" y="635283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0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A0F4473-2E36-CD22-C7D4-D00E99A5E6F1}"/>
              </a:ext>
            </a:extLst>
          </p:cNvPr>
          <p:cNvSpPr txBox="1">
            <a:spLocks/>
          </p:cNvSpPr>
          <p:nvPr/>
        </p:nvSpPr>
        <p:spPr>
          <a:xfrm>
            <a:off x="3347446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-5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20520107-933C-8036-46BA-8F78CB5C9F82}"/>
              </a:ext>
            </a:extLst>
          </p:cNvPr>
          <p:cNvSpPr txBox="1">
            <a:spLocks/>
          </p:cNvSpPr>
          <p:nvPr/>
        </p:nvSpPr>
        <p:spPr>
          <a:xfrm>
            <a:off x="6043212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-10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83DB896-3D2B-65DE-7858-B6FC1DC90CC6}"/>
              </a:ext>
            </a:extLst>
          </p:cNvPr>
          <p:cNvSpPr txBox="1">
            <a:spLocks/>
          </p:cNvSpPr>
          <p:nvPr/>
        </p:nvSpPr>
        <p:spPr>
          <a:xfrm>
            <a:off x="8738978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-15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AE53AE9-F845-8443-69B9-E438DE8899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871" y="1110275"/>
            <a:ext cx="3173327" cy="237908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2934D6D-0E1F-12D7-4016-3E2D41446F67}"/>
              </a:ext>
            </a:extLst>
          </p:cNvPr>
          <p:cNvSpPr txBox="1">
            <a:spLocks/>
          </p:cNvSpPr>
          <p:nvPr/>
        </p:nvSpPr>
        <p:spPr>
          <a:xfrm>
            <a:off x="2166062" y="2277934"/>
            <a:ext cx="5368838" cy="1653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>
                <a:solidFill>
                  <a:schemeClr val="bg1"/>
                </a:solidFill>
              </a:rPr>
              <a:t>Radiometry (energy-based detection)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Empirical Probability Calculations (MATLAB)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Receiver Operating Characteristic (ROC) Curve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Slash curve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E3C3582-3389-00A3-D0F3-7AEBA784DC90}"/>
              </a:ext>
            </a:extLst>
          </p:cNvPr>
          <p:cNvSpPr txBox="1">
            <a:spLocks/>
          </p:cNvSpPr>
          <p:nvPr/>
        </p:nvSpPr>
        <p:spPr>
          <a:xfrm>
            <a:off x="2143663" y="3352149"/>
            <a:ext cx="5803002" cy="250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222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DB136-31B1-1EAF-6816-439432A3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BF4105-B9F9-641E-7B9C-08F36264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2C2196-685E-B13B-CFFB-5152A10FA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BAD6E22-9815-B72F-6AB1-DAC2571B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C67EEED-42ED-3414-5897-D25EE40F6A7D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13A5756-462C-045C-0EA3-234C9167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Detection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AE1939-A065-2EF6-24C7-489A71C62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34015"/>
              </p:ext>
            </p:extLst>
          </p:nvPr>
        </p:nvGraphicFramePr>
        <p:xfrm>
          <a:off x="465157" y="2901419"/>
          <a:ext cx="4505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763">
                  <a:extLst>
                    <a:ext uri="{9D8B030D-6E8A-4147-A177-3AD203B41FA5}">
                      <a16:colId xmlns:a16="http://schemas.microsoft.com/office/drawing/2014/main" val="1941735709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785265048"/>
                    </a:ext>
                  </a:extLst>
                </a:gridCol>
                <a:gridCol w="1843917">
                  <a:extLst>
                    <a:ext uri="{9D8B030D-6E8A-4147-A177-3AD203B41FA5}">
                      <a16:colId xmlns:a16="http://schemas.microsoft.com/office/drawing/2014/main" val="793392802"/>
                    </a:ext>
                  </a:extLst>
                </a:gridCol>
              </a:tblGrid>
              <a:tr h="587667">
                <a:tc>
                  <a:txBody>
                    <a:bodyPr/>
                    <a:lstStyle/>
                    <a:p>
                      <a:r>
                        <a:rPr lang="en-US" dirty="0"/>
                        <a:t>Spread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SNR for .85/.15 (Pd/Pfa)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63537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18976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289140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-7.5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411299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084008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-7.5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791345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85252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13151EB-AD76-BFFD-54B2-C2E72170E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72" y="1188520"/>
            <a:ext cx="3093736" cy="2387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ECC214-3183-CF06-900E-AE64A10A8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40" y="1188521"/>
            <a:ext cx="2920401" cy="238737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FB3E62-96D8-B4BD-4F4B-C95C5A690283}"/>
              </a:ext>
            </a:extLst>
          </p:cNvPr>
          <p:cNvCxnSpPr>
            <a:cxnSpLocks/>
          </p:cNvCxnSpPr>
          <p:nvPr/>
        </p:nvCxnSpPr>
        <p:spPr>
          <a:xfrm>
            <a:off x="9564649" y="1678645"/>
            <a:ext cx="0" cy="16399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1BAA39-B837-D02A-99CD-533C520BB414}"/>
              </a:ext>
            </a:extLst>
          </p:cNvPr>
          <p:cNvCxnSpPr>
            <a:cxnSpLocks/>
          </p:cNvCxnSpPr>
          <p:nvPr/>
        </p:nvCxnSpPr>
        <p:spPr>
          <a:xfrm>
            <a:off x="9189397" y="1678645"/>
            <a:ext cx="375252" cy="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60D256-D76D-6231-8D97-6665156D1B0B}"/>
              </a:ext>
            </a:extLst>
          </p:cNvPr>
          <p:cNvCxnSpPr>
            <a:cxnSpLocks/>
          </p:cNvCxnSpPr>
          <p:nvPr/>
        </p:nvCxnSpPr>
        <p:spPr>
          <a:xfrm>
            <a:off x="7277977" y="2192616"/>
            <a:ext cx="0" cy="1111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92C519-9BF0-1BBC-5464-254E2E081C22}"/>
              </a:ext>
            </a:extLst>
          </p:cNvPr>
          <p:cNvCxnSpPr>
            <a:cxnSpLocks/>
          </p:cNvCxnSpPr>
          <p:nvPr/>
        </p:nvCxnSpPr>
        <p:spPr>
          <a:xfrm>
            <a:off x="6095860" y="2192616"/>
            <a:ext cx="11821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AF95FE7-2B5D-A5B0-A58A-80538C2A8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74" y="4145015"/>
            <a:ext cx="3093735" cy="2387376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8EC1DEA-1853-871D-5B0A-EBC9444DB813}"/>
              </a:ext>
            </a:extLst>
          </p:cNvPr>
          <p:cNvSpPr txBox="1">
            <a:spLocks/>
          </p:cNvSpPr>
          <p:nvPr/>
        </p:nvSpPr>
        <p:spPr>
          <a:xfrm>
            <a:off x="6905042" y="3686991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40CB611-4DAC-6EC2-0725-52D4C266F2A9}"/>
              </a:ext>
            </a:extLst>
          </p:cNvPr>
          <p:cNvSpPr txBox="1">
            <a:spLocks/>
          </p:cNvSpPr>
          <p:nvPr/>
        </p:nvSpPr>
        <p:spPr>
          <a:xfrm>
            <a:off x="7002642" y="704554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LoRa SF 7 BW 125kHz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F3C0B7A-3DC3-8E9A-7DD5-92D1AC82D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42" y="4163842"/>
            <a:ext cx="2920401" cy="239886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965E7026-02E5-CBC9-1481-D4141FBB499F}"/>
              </a:ext>
            </a:extLst>
          </p:cNvPr>
          <p:cNvSpPr txBox="1">
            <a:spLocks/>
          </p:cNvSpPr>
          <p:nvPr/>
        </p:nvSpPr>
        <p:spPr>
          <a:xfrm>
            <a:off x="-24341" y="5935346"/>
            <a:ext cx="4878585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 = -25 dB SNR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5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58258-5BD3-9C29-E2B5-0AF8F38E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796BE1-DC66-4263-F805-67779B984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18C44-5943-B803-C366-463EE2B6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Resiliency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5065D1-47C4-F914-32F1-9C1B1CEFE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3D1FD-82A0-5CAD-FED8-F3C3C087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0D9B5B9-5E76-7F14-3FEC-8EBBE06A7680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1FB4D86-D141-E46E-3F34-5F9FB81C9A54}"/>
              </a:ext>
            </a:extLst>
          </p:cNvPr>
          <p:cNvSpPr txBox="1">
            <a:spLocks/>
          </p:cNvSpPr>
          <p:nvPr/>
        </p:nvSpPr>
        <p:spPr>
          <a:xfrm>
            <a:off x="693186" y="2212636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D5F5192C-6BEC-94A6-6597-284A00B6CA53}"/>
              </a:ext>
            </a:extLst>
          </p:cNvPr>
          <p:cNvSpPr txBox="1">
            <a:spLocks/>
          </p:cNvSpPr>
          <p:nvPr/>
        </p:nvSpPr>
        <p:spPr>
          <a:xfrm>
            <a:off x="6444712" y="2212636"/>
            <a:ext cx="5368838" cy="165372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>
                <a:solidFill>
                  <a:schemeClr val="bg1"/>
                </a:solidFill>
              </a:rPr>
              <a:t>Varying validity of results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Recursive improvements to test and codebase required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Deficiencies/limitations: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Equipment 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Scripts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Codebase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Scenario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8886ED76-467A-9BD5-B2B8-3526AF262ABD}"/>
              </a:ext>
            </a:extLst>
          </p:cNvPr>
          <p:cNvSpPr txBox="1">
            <a:spLocks/>
          </p:cNvSpPr>
          <p:nvPr/>
        </p:nvSpPr>
        <p:spPr>
          <a:xfrm>
            <a:off x="2143663" y="3352149"/>
            <a:ext cx="5803002" cy="250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FA617-60C8-C26F-7C1E-E12FD928F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88" y="2122014"/>
            <a:ext cx="4477924" cy="2137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29E472-8069-692F-FD55-B3F94A785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88" y="4330077"/>
            <a:ext cx="4477924" cy="2187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0FA69E-CAE0-8FFF-71A2-E30C0DC52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919" y="4330078"/>
            <a:ext cx="4490224" cy="219378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2097202-8DDB-7941-4917-45A78BBB9B26}"/>
              </a:ext>
            </a:extLst>
          </p:cNvPr>
          <p:cNvSpPr txBox="1">
            <a:spLocks/>
          </p:cNvSpPr>
          <p:nvPr/>
        </p:nvSpPr>
        <p:spPr>
          <a:xfrm>
            <a:off x="4374617" y="4023438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500kHz Results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35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77E15-A57C-7522-A4AC-FCBBC9F7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F212F4-FE0E-0D19-C76C-82658B5FB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78E6B8-5D6A-1FB1-D894-C2B412B11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6F9148-1E7C-4AA8-1008-9D3C38DA4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5F209A-B0F1-96F1-241B-511999C9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Resiliency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A563A-57BD-94A7-A6D2-F31452DD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1" y="4724943"/>
            <a:ext cx="3428514" cy="18730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2DE0EE-4A9B-1C98-F5FB-B17EA0D36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21" y="549007"/>
            <a:ext cx="4476750" cy="12382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C04C40-63F2-E430-1326-18D3513AD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697115"/>
              </p:ext>
            </p:extLst>
          </p:nvPr>
        </p:nvGraphicFramePr>
        <p:xfrm>
          <a:off x="5842905" y="2316480"/>
          <a:ext cx="541866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7307229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73582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LoRa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Starting Distance 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6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8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0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9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9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12 BW 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983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SF 12 BW 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480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1102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FB42AC4-FEA0-6A30-352F-41D0B937B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3" y="2452342"/>
            <a:ext cx="3986243" cy="193223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AFCC2A-52F7-E0A9-5F79-9BDD82F0F34E}"/>
              </a:ext>
            </a:extLst>
          </p:cNvPr>
          <p:cNvSpPr txBox="1">
            <a:spLocks/>
          </p:cNvSpPr>
          <p:nvPr/>
        </p:nvSpPr>
        <p:spPr>
          <a:xfrm>
            <a:off x="66473" y="2149366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125kHz Results – Jam SNR greater?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ACB73F3-AFE6-767A-5A4F-BF28EC42F73C}"/>
              </a:ext>
            </a:extLst>
          </p:cNvPr>
          <p:cNvSpPr txBox="1">
            <a:spLocks/>
          </p:cNvSpPr>
          <p:nvPr/>
        </p:nvSpPr>
        <p:spPr>
          <a:xfrm>
            <a:off x="1592026" y="4450227"/>
            <a:ext cx="4290996" cy="4346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10kHz Results – inconsistent, no falloff?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42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9F415-A767-3B77-46A6-8CC37C5C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3E6969-C12E-3DB7-E344-06F307453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AC410A-E16D-8180-7825-F515CA0DF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67D3F-9B55-65E8-70D0-AED6D0F0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28CB59-A95F-3269-3685-560B7666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3EDDE96-FF28-5F7E-8F7A-D8A70A51D519}"/>
              </a:ext>
            </a:extLst>
          </p:cNvPr>
          <p:cNvSpPr txBox="1">
            <a:spLocks/>
          </p:cNvSpPr>
          <p:nvPr/>
        </p:nvSpPr>
        <p:spPr>
          <a:xfrm>
            <a:off x="-24341" y="5935346"/>
            <a:ext cx="4878585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 = -25 dB SNR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86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13133</TotalTime>
  <Words>726</Words>
  <Application>Microsoft Office PowerPoint</Application>
  <PresentationFormat>Widescreen</PresentationFormat>
  <Paragraphs>177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Quantitative Evaluation of LoRa for DoD Applications</vt:lpstr>
      <vt:lpstr>Resiliency, Detectability, and Geolocation of a Waveform </vt:lpstr>
      <vt:lpstr>Long Range (LoRa) Chirp Spread Spectrum (CSS)</vt:lpstr>
      <vt:lpstr>Test Approach</vt:lpstr>
      <vt:lpstr>Development Efforts</vt:lpstr>
      <vt:lpstr>Test Bed and  Equipment</vt:lpstr>
      <vt:lpstr>Geolocation Results  (CAF)</vt:lpstr>
      <vt:lpstr>Geolocation Analysis</vt:lpstr>
      <vt:lpstr>Probability of Detection  Results </vt:lpstr>
      <vt:lpstr>Detection Analysis</vt:lpstr>
      <vt:lpstr>Resiliency Results </vt:lpstr>
      <vt:lpstr>Resiliency  Analysis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Bryce Rooney</cp:lastModifiedBy>
  <cp:revision>12</cp:revision>
  <dcterms:created xsi:type="dcterms:W3CDTF">2026-03-31T19:56:18Z</dcterms:created>
  <dcterms:modified xsi:type="dcterms:W3CDTF">2026-05-31T22:00:48Z</dcterms:modified>
</cp:coreProperties>
</file>
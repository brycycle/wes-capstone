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62" r:id="rId5"/>
    <p:sldId id="263" r:id="rId6"/>
    <p:sldId id="264" r:id="rId7"/>
    <p:sldId id="266" r:id="rId8"/>
    <p:sldId id="267" r:id="rId9"/>
    <p:sldId id="269" r:id="rId10"/>
    <p:sldId id="270" r:id="rId11"/>
    <p:sldId id="271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4800FB-C729-43D8-B8FA-AF6F4E65F618}" v="1" dt="2026-03-31T21:40:29.5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74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408BF972-AAF0-4B87-AAE0-4584C3E8F925}"/>
    <pc:docChg chg="custSel modSld">
      <pc:chgData name="Rooney, Bryce Edward (53520) CIV USN NIWC PACIFIC CA (USA)" userId="802230dc-da13-4caa-9b75-cf409dfca0cb" providerId="ADAL" clId="{408BF972-AAF0-4B87-AAE0-4584C3E8F925}" dt="2026-03-31T21:41:18.573" v="925" actId="20577"/>
      <pc:docMkLst>
        <pc:docMk/>
      </pc:docMkLst>
      <pc:sldChg chg="modSp mod">
        <pc:chgData name="Rooney, Bryce Edward (53520) CIV USN NIWC PACIFIC CA (USA)" userId="802230dc-da13-4caa-9b75-cf409dfca0cb" providerId="ADAL" clId="{408BF972-AAF0-4B87-AAE0-4584C3E8F925}" dt="2026-03-31T20:56:25.168" v="10" actId="20577"/>
        <pc:sldMkLst>
          <pc:docMk/>
          <pc:sldMk cId="291941122" sldId="256"/>
        </pc:sldMkLst>
        <pc:spChg chg="mod">
          <ac:chgData name="Rooney, Bryce Edward (53520) CIV USN NIWC PACIFIC CA (USA)" userId="802230dc-da13-4caa-9b75-cf409dfca0cb" providerId="ADAL" clId="{408BF972-AAF0-4B87-AAE0-4584C3E8F925}" dt="2026-03-31T20:56:25.168" v="10" actId="20577"/>
          <ac:spMkLst>
            <pc:docMk/>
            <pc:sldMk cId="291941122" sldId="256"/>
            <ac:spMk id="2" creationId="{DF18180A-64C9-2A9B-CFB0-FCF2F7E35BB6}"/>
          </ac:spMkLst>
        </pc:spChg>
      </pc:sldChg>
      <pc:sldChg chg="modSp mod">
        <pc:chgData name="Rooney, Bryce Edward (53520) CIV USN NIWC PACIFIC CA (USA)" userId="802230dc-da13-4caa-9b75-cf409dfca0cb" providerId="ADAL" clId="{408BF972-AAF0-4B87-AAE0-4584C3E8F925}" dt="2026-03-31T21:36:26.590" v="354" actId="313"/>
        <pc:sldMkLst>
          <pc:docMk/>
          <pc:sldMk cId="3639129086" sldId="258"/>
        </pc:sldMkLst>
        <pc:spChg chg="mod">
          <ac:chgData name="Rooney, Bryce Edward (53520) CIV USN NIWC PACIFIC CA (USA)" userId="802230dc-da13-4caa-9b75-cf409dfca0cb" providerId="ADAL" clId="{408BF972-AAF0-4B87-AAE0-4584C3E8F925}" dt="2026-03-31T21:36:26.590" v="354" actId="313"/>
          <ac:spMkLst>
            <pc:docMk/>
            <pc:sldMk cId="3639129086" sldId="258"/>
            <ac:spMk id="3" creationId="{385A155F-AFE3-CC5F-DB02-E9B060701EC0}"/>
          </ac:spMkLst>
        </pc:spChg>
      </pc:sldChg>
      <pc:sldChg chg="modSp mod">
        <pc:chgData name="Rooney, Bryce Edward (53520) CIV USN NIWC PACIFIC CA (USA)" userId="802230dc-da13-4caa-9b75-cf409dfca0cb" providerId="ADAL" clId="{408BF972-AAF0-4B87-AAE0-4584C3E8F925}" dt="2026-03-31T21:41:18.573" v="925" actId="20577"/>
        <pc:sldMkLst>
          <pc:docMk/>
          <pc:sldMk cId="2549184229" sldId="260"/>
        </pc:sldMkLst>
        <pc:spChg chg="mod">
          <ac:chgData name="Rooney, Bryce Edward (53520) CIV USN NIWC PACIFIC CA (USA)" userId="802230dc-da13-4caa-9b75-cf409dfca0cb" providerId="ADAL" clId="{408BF972-AAF0-4B87-AAE0-4584C3E8F925}" dt="2026-03-31T21:41:18.573" v="925" actId="20577"/>
          <ac:spMkLst>
            <pc:docMk/>
            <pc:sldMk cId="2549184229" sldId="260"/>
            <ac:spMk id="3" creationId="{00AA322A-38FF-0EFA-C77A-16CA9991EC4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18180A-64C9-2A9B-CFB0-FCF2F7E35B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2903" y="949325"/>
            <a:ext cx="8071706" cy="2387600"/>
          </a:xfrm>
        </p:spPr>
        <p:txBody>
          <a:bodyPr>
            <a:norm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</a:rPr>
              <a:t>Capstone Mid-Quarter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B48C1-0882-A141-789A-AEFE16707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2902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</a:rPr>
              <a:t>UCSD WES MAS </a:t>
            </a:r>
          </a:p>
          <a:p>
            <a:pPr algn="l"/>
            <a:r>
              <a:rPr lang="en-US" sz="320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941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3A5445-C140-F2AC-9D8A-5C5292A43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E0602-D295-48EF-7115-5DEC83623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Project Description and Overview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Methods of Evaluation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LoRa Waveform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Current Schedule and Success</a:t>
            </a:r>
          </a:p>
          <a:p>
            <a:pPr lvl="1"/>
            <a:r>
              <a:rPr lang="en-US" sz="1700" dirty="0">
                <a:solidFill>
                  <a:schemeClr val="bg1"/>
                </a:solidFill>
              </a:rPr>
              <a:t>Future Schedule</a:t>
            </a:r>
          </a:p>
          <a:p>
            <a:r>
              <a:rPr lang="en-US" sz="2100" dirty="0">
                <a:solidFill>
                  <a:schemeClr val="bg1"/>
                </a:solidFill>
              </a:rPr>
              <a:t>Test Approach</a:t>
            </a:r>
          </a:p>
          <a:p>
            <a:r>
              <a:rPr lang="en-US" sz="2100" dirty="0">
                <a:solidFill>
                  <a:schemeClr val="bg1"/>
                </a:solidFill>
              </a:rPr>
              <a:t>Development Efforts</a:t>
            </a:r>
          </a:p>
          <a:p>
            <a:r>
              <a:rPr lang="en-US" sz="2400" dirty="0">
                <a:solidFill>
                  <a:schemeClr val="bg1"/>
                </a:solidFill>
              </a:rPr>
              <a:t>Test Bed and Equipment</a:t>
            </a:r>
          </a:p>
          <a:p>
            <a:r>
              <a:rPr lang="en-US" sz="2400" dirty="0">
                <a:solidFill>
                  <a:schemeClr val="bg1"/>
                </a:solidFill>
              </a:rPr>
              <a:t>Results So Far</a:t>
            </a:r>
          </a:p>
          <a:p>
            <a:endParaRPr lang="en-US" sz="2100" dirty="0">
              <a:solidFill>
                <a:schemeClr val="bg1"/>
              </a:solidFill>
            </a:endParaRPr>
          </a:p>
          <a:p>
            <a:endParaRPr lang="en-US" sz="2100" dirty="0">
              <a:solidFill>
                <a:schemeClr val="bg1"/>
              </a:solidFill>
            </a:endParaRP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56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>
                <a:solidFill>
                  <a:schemeClr val="bg1"/>
                </a:solidFill>
              </a:rPr>
              <a:t>Quantitative Evaluation of LoRa Resiliency, Detectability, and Geolocation 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A8454-F80C-0215-BB29-E1C218B7C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3" y="2477615"/>
            <a:ext cx="9406666" cy="3526144"/>
          </a:xfrm>
        </p:spPr>
        <p:txBody>
          <a:bodyPr>
            <a:normAutofit lnSpcReduction="10000"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Characterize the performance of the LoRa Radio Frequency (RF) Chirp Spread Spectrum (CSS) modulation with methods used by the Department of Defense (DoD).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Anti-Jam and Range performance 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Detection</a:t>
            </a:r>
          </a:p>
          <a:p>
            <a:pPr lvl="1"/>
            <a:r>
              <a:rPr lang="en-US" sz="2100" dirty="0">
                <a:solidFill>
                  <a:schemeClr val="bg1"/>
                </a:solidFill>
              </a:rPr>
              <a:t>Probability of Geolocation</a:t>
            </a:r>
          </a:p>
          <a:p>
            <a:r>
              <a:rPr lang="en-US" sz="2100" dirty="0">
                <a:solidFill>
                  <a:schemeClr val="bg1"/>
                </a:solidFill>
              </a:rPr>
              <a:t>Collaborate with Naval Information Warfare Center, Pacific (NIWC Pac) Division 535 to leverage existing facilities and equipment.</a:t>
            </a:r>
          </a:p>
          <a:p>
            <a:r>
              <a:rPr lang="en-US" sz="2100" dirty="0">
                <a:solidFill>
                  <a:schemeClr val="bg1"/>
                </a:solidFill>
              </a:rPr>
              <a:t>Write a research paper on findings with insight into desired (or not desired) characteristics and how this fits into DoD Advanced Tactical Data Links (ATDL) research and development. </a:t>
            </a:r>
          </a:p>
          <a:p>
            <a:pPr lvl="1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94216B-40D2-6247-56D5-A7CBAB944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C3EDA-0049-E9A8-F3AB-AAF7CD206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505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Methods of Evaluation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54FE6-7BDF-F126-BB12-51858113D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051" y="2997905"/>
            <a:ext cx="9406666" cy="352614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Probability of Detection (LPD)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Geolocation Avoidance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Anti-Jam and Range Performance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4219EF-D79F-1C7F-4F30-EF7E0E5AEC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573293" y="2229117"/>
            <a:ext cx="1932844" cy="1932844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1C4D73-CB1E-D112-F917-7E864B0500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025" y="4534577"/>
            <a:ext cx="2798112" cy="1684867"/>
          </a:xfrm>
          <a:prstGeom prst="rect">
            <a:avLst/>
          </a:prstGeom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915125B5-438F-4165-094E-8FD593A56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873" y="4005960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7E1520AC-31EF-9A34-8BD5-02D717E5B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162" y="1332706"/>
            <a:ext cx="2321474" cy="232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72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4792D3-1C8D-F13D-DF26-38BF9977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E4302-7F4F-AD8C-B4F5-7EE7A54F7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773" y="700777"/>
            <a:ext cx="5580993" cy="1325563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Probability of Detection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2026340"/>
            <a:ext cx="60959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3A553-1C62-4B2F-EE35-02EA3AA7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21041"/>
            <a:ext cx="6214766" cy="3711571"/>
          </a:xfrm>
        </p:spPr>
        <p:txBody>
          <a:bodyPr>
            <a:normAutofit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Computational-heavy MATLAB Algorithm 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Compares signal to Gaussian noise</a:t>
            </a:r>
            <a:endParaRPr lang="en-US" sz="2000" dirty="0">
              <a:solidFill>
                <a:schemeClr val="bg1"/>
              </a:solidFill>
            </a:endParaRP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Receiver Operating Characteristic (ROC)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Probability of true positive detections against false positive detections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Slash curve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Depicts the relationship between SNR and integration time for a given probability of true detection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EA441-CB06-AA90-59C6-D2C028C35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47247" y="369913"/>
            <a:ext cx="2784532" cy="2784532"/>
          </a:xfrm>
          <a:prstGeom prst="rect">
            <a:avLst/>
          </a:prstGeom>
          <a:noFill/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87417AF-190E-4D6E-AFA6-7D3E84B0B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603" y="182859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67E3B-D785-9A33-F672-9A404FC8DC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155" y="3730267"/>
            <a:ext cx="2867652" cy="278453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0B30ED8-273E-4C07-8568-2FE5CC5C4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5071" y="3543213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568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0F2B9-6AAD-879C-6A55-7F18B21EB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85EEC4-5662-5ACC-E022-266460ABC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D7697-093C-2AAD-DDE4-BE22A2D4B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3067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Geo-location Avoidance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7F17B-2384-1F46-8843-51118E339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8FFB8B0-0207-F74A-C3FE-946F6F6F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60E67CD-3ABA-843D-DA36-A35E3AB8C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7146" y="2476504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Cross Ambiguity Function (CAF)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Time Difference of Arrival (TDOA)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Frequency Difference of Arrival (FDOA)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CAF output calculation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Peak Magnitude and radius</a:t>
            </a:r>
          </a:p>
        </p:txBody>
      </p:sp>
      <p:pic>
        <p:nvPicPr>
          <p:cNvPr id="16" name="Picture 15" descr="International Journal of Engineering &amp; Advanced Technology (IJEAT)">
            <a:extLst>
              <a:ext uri="{FF2B5EF4-FFF2-40B4-BE49-F238E27FC236}">
                <a16:creationId xmlns:a16="http://schemas.microsoft.com/office/drawing/2014/main" id="{D72267DB-4048-C212-AE79-82FCD41B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244" y="2570174"/>
            <a:ext cx="3650868" cy="273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01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5FB16-8840-350D-B016-199B00B84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B232F19-9AE1-174E-3DBF-BDE1F4A014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300579-72E1-F49A-006E-C31DC520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5584"/>
            <a:ext cx="4508946" cy="1325563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Anti-Jam and Range Performance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251FF-445F-E432-F215-D88A57AB5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763E2-3463-BA31-1EA3-67CB47A60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779FE1-AC4B-B488-A0E6-0869FB038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Methods and Techniques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Radio Channel Emulator (RCE) tools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Simulated distances and signal level analysis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Jamming insertion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/>
            <a:r>
              <a:rPr lang="en-US" sz="2000" dirty="0">
                <a:solidFill>
                  <a:schemeClr val="bg1"/>
                </a:solidFill>
              </a:rPr>
              <a:t> Quantitative Metrics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Jamming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jamming threat</a:t>
            </a:r>
          </a:p>
          <a:p>
            <a:pPr lvl="2"/>
            <a:r>
              <a:rPr lang="en-US" sz="1800" dirty="0">
                <a:solidFill>
                  <a:schemeClr val="bg1"/>
                </a:solidFill>
              </a:rPr>
              <a:t>Range Ratio – Detection </a:t>
            </a:r>
          </a:p>
          <a:p>
            <a:pPr lvl="3"/>
            <a:r>
              <a:rPr lang="en-US" sz="1600" dirty="0">
                <a:solidFill>
                  <a:schemeClr val="bg1"/>
                </a:solidFill>
              </a:rPr>
              <a:t>ratio of the distance to a friendly receiver versus the distance to a threat detector in an LPD environment</a:t>
            </a:r>
          </a:p>
        </p:txBody>
      </p:sp>
      <p:pic>
        <p:nvPicPr>
          <p:cNvPr id="3" name="Picture 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435219F0-6DE1-D15B-DBD9-D9FE1B5AB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0026" y="2222695"/>
            <a:ext cx="2752908" cy="275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473441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333" y="791022"/>
            <a:ext cx="2856376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032" y="4107284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458" t="28532" r="5845" b="27370"/>
          <a:stretch>
            <a:fillRect/>
          </a:stretch>
        </p:blipFill>
        <p:spPr>
          <a:xfrm>
            <a:off x="6763849" y="2585751"/>
            <a:ext cx="4905261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40A24-6B6D-6741-45BC-0E05A6C8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F3C30F-A099-EA37-5165-DC8D087D3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09B1D-3B3B-11E5-06CB-5D00EBCD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07067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Schedule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B7992B-AF17-FC42-3F1C-0BFAEEE67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79FFF1E-D5ED-A3F2-E665-B40B1FFE4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3E929F-EBB7-85BD-8559-68D9999730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743"/>
          <a:stretch>
            <a:fillRect/>
          </a:stretch>
        </p:blipFill>
        <p:spPr>
          <a:xfrm>
            <a:off x="977037" y="2141533"/>
            <a:ext cx="10237926" cy="44592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C52435-E882-D24C-7F4B-74ECA9333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8418" y="1237469"/>
            <a:ext cx="1676545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01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315769-5CD9-2FB8-AE8C-5AE8616CA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2183" y="2282107"/>
            <a:ext cx="7858412" cy="244754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0AED33-CE42-BE71-5C63-18A838072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77" y="4907936"/>
            <a:ext cx="10355655" cy="1656590"/>
          </a:xfrm>
        </p:spPr>
        <p:txBody>
          <a:bodyPr>
            <a:normAutofit lnSpcReduction="10000"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Other Interpretation Questions: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SF how effective is changing the BW?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BW, how effective is changing the SF?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At set effective data rate, compare the performance of small SF and short BW against high SF and long BW. (SF7 @ ~25kHz vs SF12 @ 500kHz)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167534" y="2381539"/>
            <a:ext cx="3923511" cy="2348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effects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FD580-7E2A-02C6-D446-2BB77F42D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0B2ACA-0964-8A15-15CC-9108F8A0A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740B62-1C42-EF61-3FB6-5EFD3B4CA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Results so Far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302F71-1468-A555-4803-A4D0F2F94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EEFE8-9C8D-A9C0-27A1-DF94965E7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54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10423</TotalTime>
  <Words>451</Words>
  <Application>Microsoft Office PowerPoint</Application>
  <PresentationFormat>Widescreen</PresentationFormat>
  <Paragraphs>76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Capstone Mid-Quarter Update</vt:lpstr>
      <vt:lpstr>Agenda</vt:lpstr>
      <vt:lpstr>Quantitative Evaluation of LoRa Resiliency, Detectability, and Geolocation  </vt:lpstr>
      <vt:lpstr>Methods of Evaluation</vt:lpstr>
      <vt:lpstr>Probability of Detection</vt:lpstr>
      <vt:lpstr>Geo-location Avoidance</vt:lpstr>
      <vt:lpstr>Anti-Jam and Range Performance</vt:lpstr>
      <vt:lpstr>Long Range (LoRa) Chirp Spread Spectrum (CSS)</vt:lpstr>
      <vt:lpstr>Schedule</vt:lpstr>
      <vt:lpstr>Test Approach</vt:lpstr>
      <vt:lpstr>Development Efforts</vt:lpstr>
      <vt:lpstr>Test Bed and  Equipment</vt:lpstr>
      <vt:lpstr>Results so Far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Yadi R</cp:lastModifiedBy>
  <cp:revision>6</cp:revision>
  <dcterms:created xsi:type="dcterms:W3CDTF">2026-03-31T19:56:18Z</dcterms:created>
  <dcterms:modified xsi:type="dcterms:W3CDTF">2026-05-07T04:04:37Z</dcterms:modified>
</cp:coreProperties>
</file>
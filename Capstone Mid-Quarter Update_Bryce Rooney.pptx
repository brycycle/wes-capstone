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8" r:id="rId4"/>
    <p:sldId id="262" r:id="rId5"/>
    <p:sldId id="263" r:id="rId6"/>
    <p:sldId id="264" r:id="rId7"/>
    <p:sldId id="266" r:id="rId8"/>
    <p:sldId id="267" r:id="rId9"/>
    <p:sldId id="269" r:id="rId10"/>
    <p:sldId id="274" r:id="rId11"/>
    <p:sldId id="270" r:id="rId12"/>
    <p:sldId id="271" r:id="rId13"/>
    <p:sldId id="272" r:id="rId14"/>
    <p:sldId id="273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E636ACD-020F-4D73-8CFB-5E79BCD32D5A}" v="3" dt="2026-05-07T22:16:53.40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87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40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oney, Bryce Edward (53520) CIV USN NIWC PACIFIC CA (USA)" userId="802230dc-da13-4caa-9b75-cf409dfca0cb" providerId="ADAL" clId="{14E4AD74-DF90-47DB-80EB-A94A3623429B}"/>
    <pc:docChg chg="custSel addSld modSld sldOrd">
      <pc:chgData name="Rooney, Bryce Edward (53520) CIV USN NIWC PACIFIC CA (USA)" userId="802230dc-da13-4caa-9b75-cf409dfca0cb" providerId="ADAL" clId="{14E4AD74-DF90-47DB-80EB-A94A3623429B}" dt="2026-05-07T22:31:15.661" v="1232" actId="1076"/>
      <pc:docMkLst>
        <pc:docMk/>
      </pc:docMkLst>
      <pc:sldChg chg="modSp mod">
        <pc:chgData name="Rooney, Bryce Edward (53520) CIV USN NIWC PACIFIC CA (USA)" userId="802230dc-da13-4caa-9b75-cf409dfca0cb" providerId="ADAL" clId="{14E4AD74-DF90-47DB-80EB-A94A3623429B}" dt="2026-05-07T22:02:10.455" v="436" actId="20577"/>
        <pc:sldMkLst>
          <pc:docMk/>
          <pc:sldMk cId="1204101300" sldId="264"/>
        </pc:sldMkLst>
        <pc:spChg chg="mod">
          <ac:chgData name="Rooney, Bryce Edward (53520) CIV USN NIWC PACIFIC CA (USA)" userId="802230dc-da13-4caa-9b75-cf409dfca0cb" providerId="ADAL" clId="{14E4AD74-DF90-47DB-80EB-A94A3623429B}" dt="2026-05-07T22:02:10.455" v="436" actId="20577"/>
          <ac:spMkLst>
            <pc:docMk/>
            <pc:sldMk cId="1204101300" sldId="264"/>
            <ac:spMk id="14" creationId="{C60E67CD-3ABA-843D-DA36-A35E3AB8CE74}"/>
          </ac:spMkLst>
        </pc:spChg>
      </pc:sldChg>
      <pc:sldChg chg="addSp delSp modSp mod ord">
        <pc:chgData name="Rooney, Bryce Edward (53520) CIV USN NIWC PACIFIC CA (USA)" userId="802230dc-da13-4caa-9b75-cf409dfca0cb" providerId="ADAL" clId="{14E4AD74-DF90-47DB-80EB-A94A3623429B}" dt="2026-05-07T22:28:19.202" v="1075" actId="20577"/>
        <pc:sldMkLst>
          <pc:docMk/>
          <pc:sldMk cId="331372439" sldId="266"/>
        </pc:sldMkLst>
        <pc:spChg chg="mod">
          <ac:chgData name="Rooney, Bryce Edward (53520) CIV USN NIWC PACIFIC CA (USA)" userId="802230dc-da13-4caa-9b75-cf409dfca0cb" providerId="ADAL" clId="{14E4AD74-DF90-47DB-80EB-A94A3623429B}" dt="2026-05-07T22:28:19.202" v="1075" actId="20577"/>
          <ac:spMkLst>
            <pc:docMk/>
            <pc:sldMk cId="331372439" sldId="266"/>
            <ac:spMk id="14" creationId="{DC779FE1-AC4B-B488-A0E6-0869FB038228}"/>
          </ac:spMkLst>
        </pc:spChg>
        <pc:picChg chg="del">
          <ac:chgData name="Rooney, Bryce Edward (53520) CIV USN NIWC PACIFIC CA (USA)" userId="802230dc-da13-4caa-9b75-cf409dfca0cb" providerId="ADAL" clId="{14E4AD74-DF90-47DB-80EB-A94A3623429B}" dt="2026-05-07T21:18:23.390" v="0" actId="478"/>
          <ac:picMkLst>
            <pc:docMk/>
            <pc:sldMk cId="331372439" sldId="266"/>
            <ac:picMk id="3" creationId="{435219F0-6DE1-D15B-DBD9-D9FE1B5AB25A}"/>
          </ac:picMkLst>
        </pc:picChg>
        <pc:picChg chg="add mod">
          <ac:chgData name="Rooney, Bryce Edward (53520) CIV USN NIWC PACIFIC CA (USA)" userId="802230dc-da13-4caa-9b75-cf409dfca0cb" providerId="ADAL" clId="{14E4AD74-DF90-47DB-80EB-A94A3623429B}" dt="2026-05-07T21:18:27.315" v="2" actId="1076"/>
          <ac:picMkLst>
            <pc:docMk/>
            <pc:sldMk cId="331372439" sldId="266"/>
            <ac:picMk id="5" creationId="{D24C00B3-07C1-771D-E661-7992508B7C13}"/>
          </ac:picMkLst>
        </pc:picChg>
      </pc:sldChg>
      <pc:sldChg chg="modSp mod">
        <pc:chgData name="Rooney, Bryce Edward (53520) CIV USN NIWC PACIFIC CA (USA)" userId="802230dc-da13-4caa-9b75-cf409dfca0cb" providerId="ADAL" clId="{14E4AD74-DF90-47DB-80EB-A94A3623429B}" dt="2026-05-07T22:01:20.444" v="434" actId="20577"/>
        <pc:sldMkLst>
          <pc:docMk/>
          <pc:sldMk cId="1001622560" sldId="268"/>
        </pc:sldMkLst>
        <pc:spChg chg="mod">
          <ac:chgData name="Rooney, Bryce Edward (53520) CIV USN NIWC PACIFIC CA (USA)" userId="802230dc-da13-4caa-9b75-cf409dfca0cb" providerId="ADAL" clId="{14E4AD74-DF90-47DB-80EB-A94A3623429B}" dt="2026-05-07T22:01:20.444" v="434" actId="20577"/>
          <ac:spMkLst>
            <pc:docMk/>
            <pc:sldMk cId="1001622560" sldId="268"/>
            <ac:spMk id="3" creationId="{97FA8454-F80C-0215-BB29-E1C218B7C933}"/>
          </ac:spMkLst>
        </pc:spChg>
      </pc:sldChg>
      <pc:sldChg chg="modSp mod">
        <pc:chgData name="Rooney, Bryce Edward (53520) CIV USN NIWC PACIFIC CA (USA)" userId="802230dc-da13-4caa-9b75-cf409dfca0cb" providerId="ADAL" clId="{14E4AD74-DF90-47DB-80EB-A94A3623429B}" dt="2026-05-07T22:02:42.174" v="460" actId="20577"/>
        <pc:sldMkLst>
          <pc:docMk/>
          <pc:sldMk cId="967501478" sldId="269"/>
        </pc:sldMkLst>
        <pc:spChg chg="mod">
          <ac:chgData name="Rooney, Bryce Edward (53520) CIV USN NIWC PACIFIC CA (USA)" userId="802230dc-da13-4caa-9b75-cf409dfca0cb" providerId="ADAL" clId="{14E4AD74-DF90-47DB-80EB-A94A3623429B}" dt="2026-05-07T22:02:42.174" v="460" actId="20577"/>
          <ac:spMkLst>
            <pc:docMk/>
            <pc:sldMk cId="967501478" sldId="269"/>
            <ac:spMk id="2" creationId="{2D909B1D-3B3B-11E5-06CB-5D00EBCD7B0C}"/>
          </ac:spMkLst>
        </pc:spChg>
      </pc:sldChg>
      <pc:sldChg chg="modSp mod">
        <pc:chgData name="Rooney, Bryce Edward (53520) CIV USN NIWC PACIFIC CA (USA)" userId="802230dc-da13-4caa-9b75-cf409dfca0cb" providerId="ADAL" clId="{14E4AD74-DF90-47DB-80EB-A94A3623429B}" dt="2026-05-07T22:31:15.661" v="1232" actId="1076"/>
        <pc:sldMkLst>
          <pc:docMk/>
          <pc:sldMk cId="3184687460" sldId="270"/>
        </pc:sldMkLst>
        <pc:spChg chg="mod">
          <ac:chgData name="Rooney, Bryce Edward (53520) CIV USN NIWC PACIFIC CA (USA)" userId="802230dc-da13-4caa-9b75-cf409dfca0cb" providerId="ADAL" clId="{14E4AD74-DF90-47DB-80EB-A94A3623429B}" dt="2026-05-07T22:31:15.661" v="1232" actId="1076"/>
          <ac:spMkLst>
            <pc:docMk/>
            <pc:sldMk cId="3184687460" sldId="270"/>
            <ac:spMk id="7" creationId="{1B0AED33-CE42-BE71-5C63-18A838072787}"/>
          </ac:spMkLst>
        </pc:spChg>
        <pc:spChg chg="mod">
          <ac:chgData name="Rooney, Bryce Edward (53520) CIV USN NIWC PACIFIC CA (USA)" userId="802230dc-da13-4caa-9b75-cf409dfca0cb" providerId="ADAL" clId="{14E4AD74-DF90-47DB-80EB-A94A3623429B}" dt="2026-05-07T22:31:10.617" v="1229" actId="20577"/>
          <ac:spMkLst>
            <pc:docMk/>
            <pc:sldMk cId="3184687460" sldId="270"/>
            <ac:spMk id="9" creationId="{D70E59AB-06E1-E8D7-E432-2A8DC551D754}"/>
          </ac:spMkLst>
        </pc:spChg>
      </pc:sldChg>
      <pc:sldChg chg="addSp modSp mod">
        <pc:chgData name="Rooney, Bryce Edward (53520) CIV USN NIWC PACIFIC CA (USA)" userId="802230dc-da13-4caa-9b75-cf409dfca0cb" providerId="ADAL" clId="{14E4AD74-DF90-47DB-80EB-A94A3623429B}" dt="2026-05-07T22:23:10.216" v="996" actId="1076"/>
        <pc:sldMkLst>
          <pc:docMk/>
          <pc:sldMk cId="2902484084" sldId="271"/>
        </pc:sldMkLst>
        <pc:spChg chg="add mod">
          <ac:chgData name="Rooney, Bryce Edward (53520) CIV USN NIWC PACIFIC CA (USA)" userId="802230dc-da13-4caa-9b75-cf409dfca0cb" providerId="ADAL" clId="{14E4AD74-DF90-47DB-80EB-A94A3623429B}" dt="2026-05-07T22:23:10.216" v="996" actId="1076"/>
          <ac:spMkLst>
            <pc:docMk/>
            <pc:sldMk cId="2902484084" sldId="271"/>
            <ac:spMk id="7" creationId="{F981C5F4-A7D3-075A-2B97-180AB86758D3}"/>
          </ac:spMkLst>
        </pc:spChg>
        <pc:picChg chg="add mod">
          <ac:chgData name="Rooney, Bryce Edward (53520) CIV USN NIWC PACIFIC CA (USA)" userId="802230dc-da13-4caa-9b75-cf409dfca0cb" providerId="ADAL" clId="{14E4AD74-DF90-47DB-80EB-A94A3623429B}" dt="2026-05-07T22:07:43.450" v="468" actId="1076"/>
          <ac:picMkLst>
            <pc:docMk/>
            <pc:sldMk cId="2902484084" sldId="271"/>
            <ac:picMk id="4" creationId="{A061006B-D9CC-5E1F-66B1-CF31C1E6BF94}"/>
          </ac:picMkLst>
        </pc:picChg>
        <pc:picChg chg="add mod">
          <ac:chgData name="Rooney, Bryce Edward (53520) CIV USN NIWC PACIFIC CA (USA)" userId="802230dc-da13-4caa-9b75-cf409dfca0cb" providerId="ADAL" clId="{14E4AD74-DF90-47DB-80EB-A94A3623429B}" dt="2026-05-07T22:07:44.752" v="469" actId="1076"/>
          <ac:picMkLst>
            <pc:docMk/>
            <pc:sldMk cId="2902484084" sldId="271"/>
            <ac:picMk id="6" creationId="{064F98BF-12F0-A10C-55A9-8BFF6B9C4F6A}"/>
          </ac:picMkLst>
        </pc:picChg>
      </pc:sldChg>
      <pc:sldChg chg="addSp modSp mod">
        <pc:chgData name="Rooney, Bryce Edward (53520) CIV USN NIWC PACIFIC CA (USA)" userId="802230dc-da13-4caa-9b75-cf409dfca0cb" providerId="ADAL" clId="{14E4AD74-DF90-47DB-80EB-A94A3623429B}" dt="2026-05-07T22:26:44.178" v="1002" actId="1076"/>
        <pc:sldMkLst>
          <pc:docMk/>
          <pc:sldMk cId="3617148153" sldId="272"/>
        </pc:sldMkLst>
        <pc:picChg chg="add mod">
          <ac:chgData name="Rooney, Bryce Edward (53520) CIV USN NIWC PACIFIC CA (USA)" userId="802230dc-da13-4caa-9b75-cf409dfca0cb" providerId="ADAL" clId="{14E4AD74-DF90-47DB-80EB-A94A3623429B}" dt="2026-05-07T22:26:44.178" v="1002" actId="1076"/>
          <ac:picMkLst>
            <pc:docMk/>
            <pc:sldMk cId="3617148153" sldId="272"/>
            <ac:picMk id="4" creationId="{C75ACC9B-B187-BEC6-D922-B8A348C7106A}"/>
          </ac:picMkLst>
        </pc:picChg>
      </pc:sldChg>
      <pc:sldChg chg="addSp delSp modSp add mod">
        <pc:chgData name="Rooney, Bryce Edward (53520) CIV USN NIWC PACIFIC CA (USA)" userId="802230dc-da13-4caa-9b75-cf409dfca0cb" providerId="ADAL" clId="{14E4AD74-DF90-47DB-80EB-A94A3623429B}" dt="2026-05-07T22:29:09.298" v="1083" actId="1076"/>
        <pc:sldMkLst>
          <pc:docMk/>
          <pc:sldMk cId="2111630354" sldId="274"/>
        </pc:sldMkLst>
        <pc:spChg chg="mod">
          <ac:chgData name="Rooney, Bryce Edward (53520) CIV USN NIWC PACIFIC CA (USA)" userId="802230dc-da13-4caa-9b75-cf409dfca0cb" providerId="ADAL" clId="{14E4AD74-DF90-47DB-80EB-A94A3623429B}" dt="2026-05-07T21:45:29.161" v="47" actId="1076"/>
          <ac:spMkLst>
            <pc:docMk/>
            <pc:sldMk cId="2111630354" sldId="274"/>
            <ac:spMk id="2" creationId="{BD807B94-783F-321B-210B-042E2754F32B}"/>
          </ac:spMkLst>
        </pc:spChg>
        <pc:spChg chg="add mod">
          <ac:chgData name="Rooney, Bryce Edward (53520) CIV USN NIWC PACIFIC CA (USA)" userId="802230dc-da13-4caa-9b75-cf409dfca0cb" providerId="ADAL" clId="{14E4AD74-DF90-47DB-80EB-A94A3623429B}" dt="2026-05-07T22:28:56.014" v="1080" actId="1076"/>
          <ac:spMkLst>
            <pc:docMk/>
            <pc:sldMk cId="2111630354" sldId="274"/>
            <ac:spMk id="3" creationId="{194578F6-62C3-5038-979B-60A62E088FEF}"/>
          </ac:spMkLst>
        </pc:spChg>
        <pc:spChg chg="add mod">
          <ac:chgData name="Rooney, Bryce Edward (53520) CIV USN NIWC PACIFIC CA (USA)" userId="802230dc-da13-4caa-9b75-cf409dfca0cb" providerId="ADAL" clId="{14E4AD74-DF90-47DB-80EB-A94A3623429B}" dt="2026-05-07T22:29:09.298" v="1083" actId="1076"/>
          <ac:spMkLst>
            <pc:docMk/>
            <pc:sldMk cId="2111630354" sldId="274"/>
            <ac:spMk id="4" creationId="{13F79579-C895-36D9-923C-2B7524746A47}"/>
          </ac:spMkLst>
        </pc:spChg>
        <pc:picChg chg="del">
          <ac:chgData name="Rooney, Bryce Edward (53520) CIV USN NIWC PACIFIC CA (USA)" userId="802230dc-da13-4caa-9b75-cf409dfca0cb" providerId="ADAL" clId="{14E4AD74-DF90-47DB-80EB-A94A3623429B}" dt="2026-05-07T21:45:15.301" v="18" actId="478"/>
          <ac:picMkLst>
            <pc:docMk/>
            <pc:sldMk cId="2111630354" sldId="274"/>
            <ac:picMk id="7" creationId="{6698483E-B614-7732-91DD-B2659C6C7639}"/>
          </ac:picMkLst>
        </pc:picChg>
        <pc:picChg chg="del">
          <ac:chgData name="Rooney, Bryce Edward (53520) CIV USN NIWC PACIFIC CA (USA)" userId="802230dc-da13-4caa-9b75-cf409dfca0cb" providerId="ADAL" clId="{14E4AD74-DF90-47DB-80EB-A94A3623429B}" dt="2026-05-07T21:45:15.819" v="19" actId="478"/>
          <ac:picMkLst>
            <pc:docMk/>
            <pc:sldMk cId="2111630354" sldId="274"/>
            <ac:picMk id="11" creationId="{1D2D851B-E512-EA02-A650-48C30EDA784F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AD779-46FE-0800-96C4-1E4241634D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CAD610-46CE-0F80-EBE8-DEA354A7FD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DDBF7F-A8A2-AFDF-503C-CF3A1DC74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D15175-4BBA-185A-16DB-6A0FEC196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333B79-29E4-31BA-5760-E43C59F5C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584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8F139-E360-A1CB-5DE9-863885419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CCE040-A830-460C-92E9-7ACDADD940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5E2BA4-7FCD-9D74-B059-EE0CD8F4C8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D0E640-F9EA-7A9B-42F0-8DB84D7EE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0625-8BC2-9004-73A0-595674308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891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708FB-25FD-D830-3669-12857F0D4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47AC46-5989-8B74-88EE-FEC7E7BB57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E9FF6-CB2B-4A00-52A1-F2830053C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AF62A-DC80-128B-DEFF-030F826EE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028A43-9479-913D-979C-DE4F7C4233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8368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25006-B980-E738-A31D-C830AA7E3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DF90BD-A052-556A-EE1C-F95E151A12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8856D3-384F-5ED6-24F0-B2435E5920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31DB69-E110-FE45-A9E7-22C0CCD0D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8B76D8-F456-D950-DA1F-F8E06902B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DBC8DC-9516-F4DC-FD34-4735CE9AD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0308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2B991-3EEF-2465-E131-744F3B940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954D10-86A4-F22A-D9CD-4B11AAA4D8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FD43B7-ABF6-BA18-1041-22025D6817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FFE6EE-74AF-9163-D07C-BFA7F7BC61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7EF255-23C7-9C03-3302-C2C115DBDE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E68F64-BAF5-5750-8A1D-54A6C5C1B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2CA972-FACC-4C38-2AEF-EBE5880FA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A466A9-9575-56B2-D488-1AD90703A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6897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2D36C-7726-65B1-55BF-8E46A06D8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5EB070-53EB-A6EB-6491-DDAEB2F37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955429-D7FD-92F1-16CA-DEA0BFBD9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E1CBE6-F74C-0692-0C2E-3BFB896D3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0647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474C44-4691-C5FB-2C68-3AE557D7C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C97F190-80F9-0D18-6F37-A6DCB72A2A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FB836-DE6B-468C-333A-4ED71A743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620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33114-6406-37AC-F42C-F7A2CB6E3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980EDC-C996-0CE5-F8D1-52E2B09A96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A2D745-5704-7451-843D-608A43C578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703626-17C1-34C0-D5C6-E035590E2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AF62C9-FFB6-A8B4-FE22-B0BDAD923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A74789-7EAB-6E3D-ABC1-4F9F2ACDA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1128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DC243-EB89-857A-69A9-FF4E9EB3C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8FA6184-7146-2BD4-E5E3-27566B9990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E8F574-D333-9940-0B8F-E09062C66F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9ED058-92A3-2514-163B-A410FD27C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A4A9EC-E5C9-498C-EFCD-DD82A68B8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0ECDF7-9513-7014-C6F1-82DF2A6AF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3075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E079E-3D42-8A2C-B38F-47168C549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2F9E55-D44B-2C42-519E-BED80194CA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6A4799-CF88-E2FE-21F5-C45AAD7B5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E94004-16DE-71D3-F095-D899F0B9C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E9BFF8-BDCE-70FD-7AFF-F5A3C5410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559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0DE058-0EA3-E22D-D40B-C44C04C38B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162721-450E-25B7-12CD-37E64F6412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9759F8-AD21-58B3-01AA-2EB2DC930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63D743-D397-5245-8050-FCF27B8BE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CF9616-BB49-28F7-D0BD-460D5A96D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181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74E20D5-BD04-A241-049F-279CB52B0B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5E2F03-4EBD-B653-8928-BF9332BD6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347C2-36E3-A67C-916A-BC4ACDD8DD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5AF960-87D0-487C-BD50-BC6BA87EEF29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3F0DE2-9CA1-2827-1628-19449584F1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4F4AEA-1AE2-0274-97C9-3E3B0ED14E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479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B5B0058-AF13-4859-B429-4EDDE2A26F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18180A-64C9-2A9B-CFB0-FCF2F7E35B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32903" y="949325"/>
            <a:ext cx="8071706" cy="2387600"/>
          </a:xfrm>
        </p:spPr>
        <p:txBody>
          <a:bodyPr>
            <a:normAutofit/>
          </a:bodyPr>
          <a:lstStyle/>
          <a:p>
            <a:pPr algn="l"/>
            <a:r>
              <a:rPr lang="en-US" sz="6600">
                <a:solidFill>
                  <a:schemeClr val="bg1"/>
                </a:solidFill>
              </a:rPr>
              <a:t>Capstone Mid-Quarter Update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BB48C1-0882-A141-789A-AEFE167076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2902" y="3429000"/>
            <a:ext cx="8071697" cy="1655762"/>
          </a:xfrm>
        </p:spPr>
        <p:txBody>
          <a:bodyPr>
            <a:normAutofit/>
          </a:bodyPr>
          <a:lstStyle/>
          <a:p>
            <a:pPr algn="l"/>
            <a:r>
              <a:rPr lang="en-US" sz="3200">
                <a:solidFill>
                  <a:schemeClr val="bg1"/>
                </a:solidFill>
              </a:rPr>
              <a:t>UCSD WES MAS </a:t>
            </a:r>
          </a:p>
          <a:p>
            <a:pPr algn="l"/>
            <a:r>
              <a:rPr lang="en-US" sz="3200">
                <a:solidFill>
                  <a:schemeClr val="bg1"/>
                </a:solidFill>
              </a:rPr>
              <a:t>Bryce Rooney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C4521DE-248E-440D-AAD6-FD9E7D34B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85285" y="0"/>
            <a:ext cx="0" cy="685800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42C13FA-4C0F-42D0-9626-5BA6040D8C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6252485"/>
            <a:ext cx="1219200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9411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7AE9375-4664-4DB2-922D-2782A6E439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3A5445-C140-F2AC-9D8A-5C5292A43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5584"/>
            <a:ext cx="4508946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Agenda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E504C98-6397-41C1-A8D8-2D9C4ED30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E0602-D295-48EF-7115-5DEC836233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6693" y="2477615"/>
            <a:ext cx="9406666" cy="3526144"/>
          </a:xfrm>
        </p:spPr>
        <p:txBody>
          <a:bodyPr>
            <a:normAutofit/>
          </a:bodyPr>
          <a:lstStyle/>
          <a:p>
            <a:r>
              <a:rPr lang="en-US" sz="2100" dirty="0">
                <a:solidFill>
                  <a:schemeClr val="bg1"/>
                </a:solidFill>
              </a:rPr>
              <a:t>Project Description and Overview</a:t>
            </a:r>
          </a:p>
          <a:p>
            <a:pPr lvl="1"/>
            <a:r>
              <a:rPr lang="en-US" sz="1700" dirty="0">
                <a:solidFill>
                  <a:schemeClr val="bg1"/>
                </a:solidFill>
              </a:rPr>
              <a:t>Methods of Evaluation</a:t>
            </a:r>
          </a:p>
          <a:p>
            <a:pPr lvl="1"/>
            <a:r>
              <a:rPr lang="en-US" sz="1700" dirty="0">
                <a:solidFill>
                  <a:schemeClr val="bg1"/>
                </a:solidFill>
              </a:rPr>
              <a:t>LoRa Waveform</a:t>
            </a:r>
          </a:p>
          <a:p>
            <a:pPr lvl="1"/>
            <a:r>
              <a:rPr lang="en-US" sz="1700" dirty="0">
                <a:solidFill>
                  <a:schemeClr val="bg1"/>
                </a:solidFill>
              </a:rPr>
              <a:t>Current Schedule and Success</a:t>
            </a:r>
          </a:p>
          <a:p>
            <a:pPr lvl="1"/>
            <a:r>
              <a:rPr lang="en-US" sz="1700" dirty="0">
                <a:solidFill>
                  <a:schemeClr val="bg1"/>
                </a:solidFill>
              </a:rPr>
              <a:t>Future Schedule</a:t>
            </a:r>
          </a:p>
          <a:p>
            <a:r>
              <a:rPr lang="en-US" sz="2100" dirty="0">
                <a:solidFill>
                  <a:schemeClr val="bg1"/>
                </a:solidFill>
              </a:rPr>
              <a:t>Test Approach</a:t>
            </a:r>
          </a:p>
          <a:p>
            <a:r>
              <a:rPr lang="en-US" sz="2100" dirty="0">
                <a:solidFill>
                  <a:schemeClr val="bg1"/>
                </a:solidFill>
              </a:rPr>
              <a:t>Development Efforts</a:t>
            </a:r>
          </a:p>
          <a:p>
            <a:r>
              <a:rPr lang="en-US" sz="2400" dirty="0">
                <a:solidFill>
                  <a:schemeClr val="bg1"/>
                </a:solidFill>
              </a:rPr>
              <a:t>Test Bed and Equipment</a:t>
            </a:r>
          </a:p>
          <a:p>
            <a:r>
              <a:rPr lang="en-US" sz="2400" dirty="0">
                <a:solidFill>
                  <a:schemeClr val="bg1"/>
                </a:solidFill>
              </a:rPr>
              <a:t>Results So Far</a:t>
            </a:r>
          </a:p>
          <a:p>
            <a:endParaRPr lang="en-US" sz="2100" dirty="0">
              <a:solidFill>
                <a:schemeClr val="bg1"/>
              </a:solidFill>
            </a:endParaRPr>
          </a:p>
          <a:p>
            <a:endParaRPr lang="en-US" sz="2100" dirty="0">
              <a:solidFill>
                <a:schemeClr val="bg1"/>
              </a:solidFill>
            </a:endParaRPr>
          </a:p>
          <a:p>
            <a:pPr lvl="1"/>
            <a:endParaRPr lang="en-US" sz="170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D005C1-8C51-42D6-9BEE-B9B838497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5624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488EA4-9524-AE2E-6EFB-5DCD326F4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A6D6F94-1F98-5D46-E8EE-C07D5EC3B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2021AD-ED48-C5A5-0978-55FEA2BA9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9925"/>
            <a:ext cx="4508946" cy="1325563"/>
          </a:xfrm>
        </p:spPr>
        <p:txBody>
          <a:bodyPr anchor="b">
            <a:normAutofit/>
          </a:bodyPr>
          <a:lstStyle/>
          <a:p>
            <a:pPr algn="r"/>
            <a:r>
              <a:rPr lang="en-US" sz="2800">
                <a:solidFill>
                  <a:schemeClr val="bg1"/>
                </a:solidFill>
              </a:rPr>
              <a:t>Quantitative Evaluation of LoRa Resiliency, Detectability, and Geolocation  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026111A-2986-42D9-3EF4-91C8C1BEFF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A8454-F80C-0215-BB29-E1C218B7C9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6693" y="2477615"/>
            <a:ext cx="9406666" cy="3526144"/>
          </a:xfrm>
        </p:spPr>
        <p:txBody>
          <a:bodyPr>
            <a:normAutofit lnSpcReduction="10000"/>
          </a:bodyPr>
          <a:lstStyle/>
          <a:p>
            <a:r>
              <a:rPr lang="en-US" sz="2100" dirty="0">
                <a:solidFill>
                  <a:schemeClr val="bg1"/>
                </a:solidFill>
              </a:rPr>
              <a:t>Characterize the performance of the LoRa Radio Frequency (RF) Chirp Spread Spectrum (CSS) modulation with methods used by the Department of Defense (DoD).</a:t>
            </a:r>
          </a:p>
          <a:p>
            <a:pPr lvl="1"/>
            <a:r>
              <a:rPr lang="en-US" sz="2100" dirty="0">
                <a:solidFill>
                  <a:schemeClr val="bg1"/>
                </a:solidFill>
              </a:rPr>
              <a:t>Anti-Jam and Range performance </a:t>
            </a:r>
          </a:p>
          <a:p>
            <a:pPr lvl="1"/>
            <a:r>
              <a:rPr lang="en-US" sz="2100" dirty="0">
                <a:solidFill>
                  <a:schemeClr val="bg1"/>
                </a:solidFill>
              </a:rPr>
              <a:t>Probability of Detection</a:t>
            </a:r>
          </a:p>
          <a:p>
            <a:pPr lvl="1"/>
            <a:r>
              <a:rPr lang="en-US" sz="2100" dirty="0">
                <a:solidFill>
                  <a:schemeClr val="bg1"/>
                </a:solidFill>
              </a:rPr>
              <a:t>Probability of Geolocation</a:t>
            </a:r>
          </a:p>
          <a:p>
            <a:r>
              <a:rPr lang="en-US" sz="2100" dirty="0">
                <a:solidFill>
                  <a:schemeClr val="bg1"/>
                </a:solidFill>
              </a:rPr>
              <a:t>Collaborate with Naval Information Warfare Center, Pacific (NIWC Pac) Division 535 to leverage existing facilities and equipment.</a:t>
            </a:r>
          </a:p>
          <a:p>
            <a:r>
              <a:rPr lang="en-US" sz="2100" dirty="0">
                <a:solidFill>
                  <a:schemeClr val="bg1"/>
                </a:solidFill>
              </a:rPr>
              <a:t>Write a research paper on findings with insight into desired (or not desired) characteristics and how this fits into DoD Advanced Tactical Data Links (ATDL) research and development. </a:t>
            </a:r>
          </a:p>
          <a:p>
            <a:pPr lvl="1"/>
            <a:endParaRPr lang="en-US" sz="170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2A58B89-650C-5A2B-44D0-3001B6EB7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6225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94216B-40D2-6247-56D5-A7CBAB944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7AE9375-4664-4DB2-922D-2782A6E439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4C3EDA-0049-E9A8-F3AB-AAF7CD206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5055"/>
            <a:ext cx="4508946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Methods of Evaluation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E504C98-6397-41C1-A8D8-2D9C4ED30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454FE6-7BDF-F126-BB12-51858113D8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051" y="2997905"/>
            <a:ext cx="9406666" cy="3526144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sz="2000" dirty="0">
                <a:solidFill>
                  <a:schemeClr val="bg1"/>
                </a:solidFill>
              </a:rPr>
              <a:t>Probability of Detection (LPD)</a:t>
            </a: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</a:endParaRPr>
          </a:p>
          <a:p>
            <a:pPr marL="457200" lvl="1" indent="0">
              <a:buNone/>
            </a:pPr>
            <a:r>
              <a:rPr lang="en-US" sz="2000" dirty="0">
                <a:solidFill>
                  <a:schemeClr val="bg1"/>
                </a:solidFill>
              </a:rPr>
              <a:t>Geolocation Avoidance</a:t>
            </a: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</a:endParaRPr>
          </a:p>
          <a:p>
            <a:pPr marL="457200" lvl="1" indent="0">
              <a:buNone/>
            </a:pPr>
            <a:r>
              <a:rPr lang="en-US" sz="2000" dirty="0">
                <a:solidFill>
                  <a:schemeClr val="bg1"/>
                </a:solidFill>
              </a:rPr>
              <a:t>Anti-Jam and Range Performance</a:t>
            </a: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D005C1-8C51-42D6-9BEE-B9B838497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4219EF-D79F-1C7F-4F30-EF7E0E5AEC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573293" y="2229117"/>
            <a:ext cx="1932844" cy="1932844"/>
          </a:xfrm>
          <a:prstGeom prst="rect">
            <a:avLst/>
          </a:prstGeom>
          <a:noFill/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F1C4D73-CB1E-D112-F917-7E864B0500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8025" y="4534577"/>
            <a:ext cx="2798112" cy="1684867"/>
          </a:xfrm>
          <a:prstGeom prst="rect">
            <a:avLst/>
          </a:prstGeom>
        </p:spPr>
      </p:pic>
      <p:pic>
        <p:nvPicPr>
          <p:cNvPr id="11" name="Picture 10" descr="A Multi-Pulse Cross Ambiguity Function for the Wideband TDOA and FDOA to  Locate an Emitter Passively">
            <a:extLst>
              <a:ext uri="{FF2B5EF4-FFF2-40B4-BE49-F238E27FC236}">
                <a16:creationId xmlns:a16="http://schemas.microsoft.com/office/drawing/2014/main" id="{915125B5-438F-4165-094E-8FD593A56D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5873" y="4005960"/>
            <a:ext cx="2148922" cy="1680066"/>
          </a:xfrm>
          <a:prstGeom prst="rect">
            <a:avLst/>
          </a:prstGeom>
        </p:spPr>
      </p:pic>
      <p:pic>
        <p:nvPicPr>
          <p:cNvPr id="13" name="Picture 12" descr="How We Suppress Jamming in Defense Radar Using MVDR (Without Losing the  Target) | by Satvik singh | Medium">
            <a:extLst>
              <a:ext uri="{FF2B5EF4-FFF2-40B4-BE49-F238E27FC236}">
                <a16:creationId xmlns:a16="http://schemas.microsoft.com/office/drawing/2014/main" id="{7E1520AC-31EF-9A34-8BD5-02D717E5B2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2162" y="1332706"/>
            <a:ext cx="2321474" cy="2321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723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4792D3-1C8D-F13D-DF26-38BF9977D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AE9375-4664-4DB2-922D-2782A6E439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2E4302-7F4F-AD8C-B4F5-7EE7A54F7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773" y="700777"/>
            <a:ext cx="5580993" cy="1325563"/>
          </a:xfrm>
        </p:spPr>
        <p:txBody>
          <a:bodyPr anchor="b"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Probability of Detection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E504C98-6397-41C1-A8D8-2D9C4ED30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" y="2026340"/>
            <a:ext cx="60959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E3A553-1C62-4B2F-EE35-02EA3AA7B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321041"/>
            <a:ext cx="6214766" cy="3711571"/>
          </a:xfrm>
        </p:spPr>
        <p:txBody>
          <a:bodyPr>
            <a:normAutofit lnSpcReduction="10000"/>
          </a:bodyPr>
          <a:lstStyle/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Methods and Techniques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Radiometry (energy-based detection)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Computational-heavy MATLAB Algorithm 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Compares signal to Gaussian noise</a:t>
            </a:r>
            <a:endParaRPr lang="en-US" sz="2000" dirty="0">
              <a:solidFill>
                <a:schemeClr val="bg1"/>
              </a:solidFill>
            </a:endParaRPr>
          </a:p>
          <a:p>
            <a:pPr lvl="1"/>
            <a:endParaRPr lang="en-US" sz="2000" dirty="0">
              <a:solidFill>
                <a:schemeClr val="bg1"/>
              </a:solidFill>
            </a:endParaRPr>
          </a:p>
          <a:p>
            <a:pPr lvl="1"/>
            <a:r>
              <a:rPr lang="en-US" sz="2000" dirty="0">
                <a:solidFill>
                  <a:schemeClr val="bg1"/>
                </a:solidFill>
              </a:rPr>
              <a:t> Quantitative Metrics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Receiver Operating Characteristic (ROC) Curve</a:t>
            </a:r>
          </a:p>
          <a:p>
            <a:pPr lvl="3"/>
            <a:r>
              <a:rPr lang="en-US" sz="1600" dirty="0">
                <a:solidFill>
                  <a:schemeClr val="bg1"/>
                </a:solidFill>
              </a:rPr>
              <a:t>Probability of true positive detections against false positive detections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Slash curve</a:t>
            </a:r>
          </a:p>
          <a:p>
            <a:pPr lvl="3"/>
            <a:r>
              <a:rPr lang="en-US" sz="1600" dirty="0">
                <a:solidFill>
                  <a:schemeClr val="bg1"/>
                </a:solidFill>
              </a:rPr>
              <a:t>Depicts the relationship between SNR and integration time for a given probability of true detection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5EA441-CB06-AA90-59C6-D2C028C35A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047247" y="369913"/>
            <a:ext cx="2784532" cy="2784532"/>
          </a:xfrm>
          <a:prstGeom prst="rect">
            <a:avLst/>
          </a:prstGeom>
          <a:noFill/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87417AF-190E-4D6E-AFA6-7D3E84B0B4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1603" y="182859"/>
            <a:ext cx="3996261" cy="3177496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467E3B-D785-9A33-F672-9A404FC8DC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9155" y="3730267"/>
            <a:ext cx="2867652" cy="2784532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80B30ED8-273E-4C07-8568-2FE5CC5C48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5071" y="3543213"/>
            <a:ext cx="3996261" cy="3177496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5688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40F2B9-6AAD-879C-6A55-7F18B21EB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C85EEC4-5662-5ACC-E022-266460ABC0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8D7697-093C-2AAD-DDE4-BE22A2D4B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33067"/>
            <a:ext cx="4508946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Geo-location Avoidance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C87F17B-2384-1F46-8843-51118E339A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F8FFB8B0-0207-F74A-C3FE-946F6F6F3A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C60E67CD-3ABA-843D-DA36-A35E3AB8C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47146" y="2476504"/>
            <a:ext cx="6214766" cy="3711571"/>
          </a:xfrm>
        </p:spPr>
        <p:txBody>
          <a:bodyPr>
            <a:normAutofit/>
          </a:bodyPr>
          <a:lstStyle/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Methods and Techniques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Cross Ambiguity Function (CAF) Analysis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Time Difference of Arrival (TDOA)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Frequency Difference of Arrival (FDOA)</a:t>
            </a: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</a:endParaRPr>
          </a:p>
          <a:p>
            <a:pPr lvl="1"/>
            <a:r>
              <a:rPr lang="en-US" sz="2000" dirty="0">
                <a:solidFill>
                  <a:schemeClr val="bg1"/>
                </a:solidFill>
              </a:rPr>
              <a:t> Quantitative Metrics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CAF output 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Peak Magnitude and radius</a:t>
            </a:r>
          </a:p>
        </p:txBody>
      </p:sp>
      <p:pic>
        <p:nvPicPr>
          <p:cNvPr id="16" name="Picture 15" descr="International Journal of Engineering &amp; Advanced Technology (IJEAT)">
            <a:extLst>
              <a:ext uri="{FF2B5EF4-FFF2-40B4-BE49-F238E27FC236}">
                <a16:creationId xmlns:a16="http://schemas.microsoft.com/office/drawing/2014/main" id="{D72267DB-4048-C212-AE79-82FCD41B87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244" y="2570174"/>
            <a:ext cx="3650868" cy="2734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1013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85FB16-8840-350D-B016-199B00B84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B232F19-9AE1-174E-3DBF-BDE1F4A014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300579-72E1-F49A-006E-C31DC5201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5584"/>
            <a:ext cx="4508946" cy="1325563"/>
          </a:xfrm>
        </p:spPr>
        <p:txBody>
          <a:bodyPr anchor="b">
            <a:normAutofit fontScale="90000"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Anti-Jam and Range Performance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0B251FF-445F-E432-F215-D88A57AB58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0A763E2-3463-BA31-1EA3-67CB47A60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779FE1-AC4B-B488-A0E6-0869FB0382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2473441"/>
            <a:ext cx="6214766" cy="3711571"/>
          </a:xfrm>
        </p:spPr>
        <p:txBody>
          <a:bodyPr>
            <a:normAutofit fontScale="92500" lnSpcReduction="10000"/>
          </a:bodyPr>
          <a:lstStyle/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Methods and Techniques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Radio Channel Emulator (RCE) 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Live Scripts for RCE control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Simulated distances and signal level analysis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Jamming insertion</a:t>
            </a: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</a:endParaRPr>
          </a:p>
          <a:p>
            <a:pPr lvl="1"/>
            <a:r>
              <a:rPr lang="en-US" sz="2000" dirty="0">
                <a:solidFill>
                  <a:schemeClr val="bg1"/>
                </a:solidFill>
              </a:rPr>
              <a:t> Quantitative Metrics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Range Ratio – Jamming</a:t>
            </a:r>
          </a:p>
          <a:p>
            <a:pPr lvl="3"/>
            <a:r>
              <a:rPr lang="en-US" sz="1600" dirty="0">
                <a:solidFill>
                  <a:schemeClr val="bg1"/>
                </a:solidFill>
              </a:rPr>
              <a:t>ratio of the distance to a friendly receiver versus the distance to a jamming threat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Range Ratio – Detection </a:t>
            </a:r>
          </a:p>
          <a:p>
            <a:pPr lvl="3"/>
            <a:r>
              <a:rPr lang="en-US" sz="1600" dirty="0">
                <a:solidFill>
                  <a:schemeClr val="bg1"/>
                </a:solidFill>
              </a:rPr>
              <a:t>ratio of the distance to a friendly receiver versus the distance to a threat detector in an LPD environment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4C00B3-07C1-771D-E661-7992508B7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6341" y="1471339"/>
            <a:ext cx="3277057" cy="3915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3724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902C59-08BB-7AF2-E330-4B9A2934D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65982F8-5AD1-A40A-98E0-65F7BF0B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451393-590F-0B5E-15B8-D1019DB2C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676" y="585584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Long Range (LoRa) Chirp Spread Spectrum (CSS)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3788D1F-4E09-F6B4-54D1-A355244E5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B8045BFE-20D0-AF27-791A-DEB09A3D4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2806CC9-4B5A-7651-3360-3FA75196DE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2473441"/>
            <a:ext cx="6214766" cy="3711571"/>
          </a:xfrm>
        </p:spPr>
        <p:txBody>
          <a:bodyPr>
            <a:normAutofit/>
          </a:bodyPr>
          <a:lstStyle/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Proprietary modulation technique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Commercial Off-The-Shelf (COTS) 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Extremely Low Cost, Size, and Power consumption 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Modulation uses “Chirps” – linear sweeps in frequency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Receiver Sensitivity can be below thermal noise floor – valuable for range and resiliency performance</a:t>
            </a: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B14C59-42AA-26A4-4A83-A70DD90A6B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4333" y="791022"/>
            <a:ext cx="2856376" cy="149959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31A05A1-A53C-CCF2-558F-6A9783BA71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032" y="4107284"/>
            <a:ext cx="2628885" cy="2274588"/>
          </a:xfrm>
          <a:prstGeom prst="rect">
            <a:avLst/>
          </a:prstGeom>
        </p:spPr>
      </p:pic>
      <p:pic>
        <p:nvPicPr>
          <p:cNvPr id="19" name="Picture 18" descr="Casually Chirping Into The World Of LoRaWAN | Hackaday">
            <a:extLst>
              <a:ext uri="{FF2B5EF4-FFF2-40B4-BE49-F238E27FC236}">
                <a16:creationId xmlns:a16="http://schemas.microsoft.com/office/drawing/2014/main" id="{1A02009B-2622-FF89-EB30-4EB52E2FE0B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458" t="28532" r="5845" b="27370"/>
          <a:stretch>
            <a:fillRect/>
          </a:stretch>
        </p:blipFill>
        <p:spPr>
          <a:xfrm>
            <a:off x="6763849" y="2585751"/>
            <a:ext cx="4905261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703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B40A24-6B6D-6741-45BC-0E05A6C8D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FF3C30F-A099-EA37-5165-DC8D087D3A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909B1D-3B3B-11E5-06CB-5D00EBCD7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707067" y="700777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Schedule and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Progress (May 8)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1B7992B-AF17-FC42-3F1C-0BFAEEE67F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479FFF1E-D5ED-A3F2-E665-B40B1FFE47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3E929F-EBB7-85BD-8559-68D9999730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7743"/>
          <a:stretch>
            <a:fillRect/>
          </a:stretch>
        </p:blipFill>
        <p:spPr>
          <a:xfrm>
            <a:off x="977037" y="2141533"/>
            <a:ext cx="10237926" cy="445927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0C52435-E882-D24C-7F4B-74ECA93331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8418" y="1237469"/>
            <a:ext cx="1676545" cy="762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75014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8C1669-16E2-843B-AB4C-A9B1ACE92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13D6AE3-6144-FC9A-C6BA-28DD04603A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807B94-783F-321B-210B-042E2754F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65665" y="700777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Upcoming Milestones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6912272-B784-5225-E3F9-8DF3BFD44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446525DB-2487-CEB6-325B-337DF323F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4578F6-62C3-5038-979B-60A62E088F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789" y="2216990"/>
            <a:ext cx="5715786" cy="3711571"/>
          </a:xfrm>
        </p:spPr>
        <p:txBody>
          <a:bodyPr>
            <a:normAutofit/>
          </a:bodyPr>
          <a:lstStyle/>
          <a:p>
            <a:pPr lvl="1">
              <a:lnSpc>
                <a:spcPct val="100000"/>
              </a:lnSpc>
            </a:pPr>
            <a:r>
              <a:rPr lang="en-US" sz="2800" dirty="0">
                <a:solidFill>
                  <a:schemeClr val="bg1"/>
                </a:solidFill>
              </a:rPr>
              <a:t>Test Execution Dates</a:t>
            </a:r>
          </a:p>
          <a:p>
            <a:pPr lvl="2">
              <a:lnSpc>
                <a:spcPct val="100000"/>
              </a:lnSpc>
            </a:pPr>
            <a:r>
              <a:rPr lang="en-US" sz="1800" dirty="0">
                <a:solidFill>
                  <a:schemeClr val="bg1"/>
                </a:solidFill>
              </a:rPr>
              <a:t>Anti-Jam / Range: 8 May</a:t>
            </a:r>
          </a:p>
          <a:p>
            <a:pPr lvl="2">
              <a:lnSpc>
                <a:spcPct val="100000"/>
              </a:lnSpc>
            </a:pPr>
            <a:r>
              <a:rPr lang="en-US" sz="1800" dirty="0">
                <a:solidFill>
                  <a:schemeClr val="bg1"/>
                </a:solidFill>
              </a:rPr>
              <a:t>Geolocation / CAF: 11 May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bg1"/>
                </a:solidFill>
              </a:rPr>
              <a:t>Paper Drafting Full Effort</a:t>
            </a:r>
          </a:p>
          <a:p>
            <a:pPr lvl="2">
              <a:lnSpc>
                <a:spcPct val="100000"/>
              </a:lnSpc>
            </a:pPr>
            <a:r>
              <a:rPr lang="en-US" sz="1800" dirty="0">
                <a:solidFill>
                  <a:schemeClr val="bg1"/>
                </a:solidFill>
              </a:rPr>
              <a:t>15 May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bg1"/>
                </a:solidFill>
              </a:rPr>
              <a:t>All Data/Metrics exported from Lab</a:t>
            </a:r>
          </a:p>
          <a:p>
            <a:pPr lvl="2">
              <a:lnSpc>
                <a:spcPct val="100000"/>
              </a:lnSpc>
            </a:pPr>
            <a:r>
              <a:rPr lang="en-US" sz="1800" dirty="0">
                <a:solidFill>
                  <a:schemeClr val="bg1"/>
                </a:solidFill>
              </a:rPr>
              <a:t>May 19</a:t>
            </a: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3F79579-C895-36D9-923C-2B7524746A47}"/>
              </a:ext>
            </a:extLst>
          </p:cNvPr>
          <p:cNvSpPr txBox="1">
            <a:spLocks/>
          </p:cNvSpPr>
          <p:nvPr/>
        </p:nvSpPr>
        <p:spPr>
          <a:xfrm>
            <a:off x="6505575" y="3636239"/>
            <a:ext cx="5023407" cy="37115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bg1"/>
                </a:solidFill>
              </a:rPr>
              <a:t>Paper First Draft</a:t>
            </a:r>
          </a:p>
          <a:p>
            <a:pPr lvl="2">
              <a:lnSpc>
                <a:spcPct val="100000"/>
              </a:lnSpc>
            </a:pPr>
            <a:r>
              <a:rPr lang="en-US" sz="1800" dirty="0">
                <a:solidFill>
                  <a:schemeClr val="bg1"/>
                </a:solidFill>
              </a:rPr>
              <a:t>May 24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bg1"/>
                </a:solidFill>
              </a:rPr>
              <a:t>Video Presentation Full effort </a:t>
            </a:r>
            <a:endParaRPr lang="en-US" sz="1800" dirty="0">
              <a:solidFill>
                <a:schemeClr val="bg1"/>
              </a:solidFill>
            </a:endParaRPr>
          </a:p>
          <a:p>
            <a:pPr lvl="2">
              <a:lnSpc>
                <a:spcPct val="100000"/>
              </a:lnSpc>
            </a:pPr>
            <a:r>
              <a:rPr lang="en-US" sz="1800" dirty="0">
                <a:solidFill>
                  <a:schemeClr val="bg1"/>
                </a:solidFill>
              </a:rPr>
              <a:t>May 29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bg1"/>
                </a:solidFill>
              </a:rPr>
              <a:t>Paper and Video Submitted</a:t>
            </a:r>
          </a:p>
          <a:p>
            <a:pPr lvl="2">
              <a:lnSpc>
                <a:spcPct val="100000"/>
              </a:lnSpc>
            </a:pPr>
            <a:r>
              <a:rPr lang="en-US" sz="1800" dirty="0">
                <a:solidFill>
                  <a:schemeClr val="bg1"/>
                </a:solidFill>
              </a:rPr>
              <a:t>June 5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16303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04636A-5D4D-C4E7-8D4A-9CCC92F80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17D1FD6-55B8-C158-46BF-80A412A15D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E50285-E49A-946B-971A-FD65171F3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87479" y="585584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Test Approach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9F13B51-0B0A-EA1E-ACA5-D6C0066C6C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F23A146D-1CB4-94CA-8DB3-759CF41A2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315769-5CD9-2FB8-AE8C-5AE8616CAA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2183" y="2282107"/>
            <a:ext cx="7858412" cy="2447548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B0AED33-CE42-BE71-5C63-18A8380727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7105" y="4844848"/>
            <a:ext cx="11121470" cy="1656590"/>
          </a:xfrm>
        </p:spPr>
        <p:txBody>
          <a:bodyPr>
            <a:normAutofit fontScale="85000" lnSpcReduction="20000"/>
          </a:bodyPr>
          <a:lstStyle/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At set SF how effective is changing the BW?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At Set BW, how effective is changing the SF?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At set effective data rate, compare the performance of small SF and short BW against high SF and long BW. (SF7 @ ~25kHz vs SF12 @ 500kHz)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Compare Results to other waveforms as possible (scrub proprietary and Controlled Unclassified Information (CUI)</a:t>
            </a:r>
          </a:p>
          <a:p>
            <a:pPr lvl="1">
              <a:lnSpc>
                <a:spcPct val="100000"/>
              </a:lnSpc>
            </a:pPr>
            <a:endParaRPr lang="en-US" sz="20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70E59AB-06E1-E8D7-E432-2A8DC551D754}"/>
              </a:ext>
            </a:extLst>
          </p:cNvPr>
          <p:cNvSpPr txBox="1">
            <a:spLocks/>
          </p:cNvSpPr>
          <p:nvPr/>
        </p:nvSpPr>
        <p:spPr>
          <a:xfrm>
            <a:off x="-167534" y="2381539"/>
            <a:ext cx="3923511" cy="23481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Iterative testing against various LoRa Configurations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Spread Factor (SF) and Bandwidth (BW) variations</a:t>
            </a:r>
          </a:p>
          <a:p>
            <a:pPr lvl="1">
              <a:lnSpc>
                <a:spcPct val="100000"/>
              </a:lnSpc>
            </a:pPr>
            <a:r>
              <a:rPr lang="en-US" sz="1800" dirty="0">
                <a:solidFill>
                  <a:schemeClr val="bg1"/>
                </a:solidFill>
              </a:rPr>
              <a:t>Other Interpretation: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46874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D2F5A1-D455-3596-F19B-B7BC8FD31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BA55A61-6C26-8D67-CA8A-9550D8C5EB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A2C82C-B7F4-46E1-8A7F-A5BD7BD48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87479" y="585584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Development Efforts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FDA1D5-1D54-4D80-A9D2-DDCECBC5CF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A198D8D4-EEB6-8ECE-9853-1F6346D497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061006B-D9CC-5E1F-66B1-CF31C1E6BF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73" y="2216944"/>
            <a:ext cx="3553358" cy="19361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64F98BF-12F0-A10C-55A9-8BFF6B9C4F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913" y="4343198"/>
            <a:ext cx="4092596" cy="2209536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981C5F4-A7D3-075A-2B97-180AB86758D3}"/>
              </a:ext>
            </a:extLst>
          </p:cNvPr>
          <p:cNvSpPr txBox="1">
            <a:spLocks/>
          </p:cNvSpPr>
          <p:nvPr/>
        </p:nvSpPr>
        <p:spPr>
          <a:xfrm>
            <a:off x="5273738" y="2273149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LoRa development boards (</a:t>
            </a:r>
            <a:r>
              <a:rPr lang="en-US" sz="2000" dirty="0" err="1">
                <a:solidFill>
                  <a:schemeClr val="bg1"/>
                </a:solidFill>
              </a:rPr>
              <a:t>Heltec</a:t>
            </a:r>
            <a:r>
              <a:rPr lang="en-US" sz="2000" dirty="0">
                <a:solidFill>
                  <a:schemeClr val="bg1"/>
                </a:solidFill>
              </a:rPr>
              <a:t> LoRa V3)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Visual Studio Code C++ 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Platform IO extension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“Application” traffic exercises waveform signal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50B payload transmitted ~once per second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ACK/NACK between the two with output logging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Single code base for quick uploads between test configs</a:t>
            </a:r>
          </a:p>
          <a:p>
            <a:pPr lvl="2">
              <a:lnSpc>
                <a:spcPct val="100000"/>
              </a:lnSpc>
            </a:pPr>
            <a:r>
              <a:rPr lang="en-US" sz="1600" dirty="0">
                <a:solidFill>
                  <a:schemeClr val="bg1"/>
                </a:solidFill>
              </a:rPr>
              <a:t>SF and BW inputs with dynamic protocol adjustment to minimize iterative testing </a:t>
            </a:r>
          </a:p>
          <a:p>
            <a:pPr lvl="2">
              <a:lnSpc>
                <a:spcPct val="100000"/>
              </a:lnSpc>
            </a:pPr>
            <a:r>
              <a:rPr lang="en-US" sz="1600" dirty="0">
                <a:solidFill>
                  <a:schemeClr val="bg1"/>
                </a:solidFill>
              </a:rPr>
              <a:t>Code base works as ACK device or Tx device with button toggle</a:t>
            </a: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24840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ACBB82-385B-E296-3D17-5F032FB4E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F1D198E-F60A-9651-2339-335E1A7CA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B5C13E-BF79-4159-CC29-93CDF66BC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87479" y="700777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Test Bed and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Equipment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02AEE75-FB0B-48D1-D829-1DD5F0955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E367ADA0-CEEF-E84A-8FB5-92B4102243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5ACC9B-B187-BEC6-D922-B8A348C710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8325" y="2237471"/>
            <a:ext cx="8201022" cy="4327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481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1FD580-7E2A-02C6-D446-2BB77F42D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B0B2ACA-0964-8A15-15CC-9108F8A0AF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740B62-1C42-EF61-3FB6-5EFD3B4CA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87479" y="700777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Results so Far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1302F71-1468-A555-4803-A4D0F2F946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5B6EEFE8-9C8D-A9C0-27A1-DF94965E7A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9549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b27ac744-d744-4b94-baa9-948b89b4017a}" enabled="1" method="Standard" siteId="{e3333e00-c877-4b87-b6ad-45e942de1750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10498</TotalTime>
  <Words>598</Words>
  <Application>Microsoft Office PowerPoint</Application>
  <PresentationFormat>Widescreen</PresentationFormat>
  <Paragraphs>101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Capstone Mid-Quarter Update</vt:lpstr>
      <vt:lpstr>Agenda</vt:lpstr>
      <vt:lpstr>Quantitative Evaluation of LoRa Resiliency, Detectability, and Geolocation  </vt:lpstr>
      <vt:lpstr>Methods of Evaluation</vt:lpstr>
      <vt:lpstr>Probability of Detection</vt:lpstr>
      <vt:lpstr>Geo-location Avoidance</vt:lpstr>
      <vt:lpstr>Anti-Jam and Range Performance</vt:lpstr>
      <vt:lpstr>Long Range (LoRa) Chirp Spread Spectrum (CSS)</vt:lpstr>
      <vt:lpstr>Schedule and  Progress (May 8)</vt:lpstr>
      <vt:lpstr>Upcoming Milestones</vt:lpstr>
      <vt:lpstr>Test Approach</vt:lpstr>
      <vt:lpstr>Development Efforts</vt:lpstr>
      <vt:lpstr>Test Bed and  Equipment</vt:lpstr>
      <vt:lpstr>Results so Far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Rooney, Bryce Edward (53520) CIV USN NIWC PACIFIC CA (USA)</dc:creator>
  <cp:lastModifiedBy>Rooney, Bryce Edward (53520) CIV USN NIWC PACIFIC CA (USA)</cp:lastModifiedBy>
  <cp:revision>6</cp:revision>
  <dcterms:created xsi:type="dcterms:W3CDTF">2026-03-31T19:56:18Z</dcterms:created>
  <dcterms:modified xsi:type="dcterms:W3CDTF">2026-05-07T22:31:16Z</dcterms:modified>
</cp:coreProperties>
</file>
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62" r:id="rId5"/>
    <p:sldId id="263" r:id="rId6"/>
    <p:sldId id="264" r:id="rId7"/>
    <p:sldId id="266" r:id="rId8"/>
    <p:sldId id="267" r:id="rId9"/>
    <p:sldId id="269" r:id="rId10"/>
    <p:sldId id="274" r:id="rId11"/>
    <p:sldId id="270" r:id="rId12"/>
    <p:sldId id="271" r:id="rId13"/>
    <p:sldId id="272" r:id="rId14"/>
    <p:sldId id="273" r:id="rId15"/>
    <p:sldId id="275" r:id="rId16"/>
    <p:sldId id="276" r:id="rId17"/>
    <p:sldId id="277" r:id="rId18"/>
    <p:sldId id="278" r:id="rId19"/>
    <p:sldId id="279" r:id="rId20"/>
    <p:sldId id="280" r:id="rId21"/>
    <p:sldId id="282" r:id="rId22"/>
    <p:sldId id="28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636ACD-020F-4D73-8CFB-5E79BCD32D5A}" v="3" dt="2026-05-07T22:16:53.4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74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oney, Bryce Edward (53520) CIV USN NIWC PACIFIC CA (USA)" userId="802230dc-da13-4caa-9b75-cf409dfca0cb" providerId="ADAL" clId="{14E4AD74-DF90-47DB-80EB-A94A3623429B}"/>
    <pc:docChg chg="custSel addSld modSld sldOrd">
      <pc:chgData name="Rooney, Bryce Edward (53520) CIV USN NIWC PACIFIC CA (USA)" userId="802230dc-da13-4caa-9b75-cf409dfca0cb" providerId="ADAL" clId="{14E4AD74-DF90-47DB-80EB-A94A3623429B}" dt="2026-05-07T22:31:15.661" v="1232" actId="1076"/>
      <pc:docMkLst>
        <pc:docMk/>
      </pc:docMkLst>
      <pc:sldChg chg="modSp mod">
        <pc:chgData name="Rooney, Bryce Edward (53520) CIV USN NIWC PACIFIC CA (USA)" userId="802230dc-da13-4caa-9b75-cf409dfca0cb" providerId="ADAL" clId="{14E4AD74-DF90-47DB-80EB-A94A3623429B}" dt="2026-05-07T22:02:10.455" v="436" actId="20577"/>
        <pc:sldMkLst>
          <pc:docMk/>
          <pc:sldMk cId="1204101300" sldId="264"/>
        </pc:sldMkLst>
        <pc:spChg chg="mod">
          <ac:chgData name="Rooney, Bryce Edward (53520) CIV USN NIWC PACIFIC CA (USA)" userId="802230dc-da13-4caa-9b75-cf409dfca0cb" providerId="ADAL" clId="{14E4AD74-DF90-47DB-80EB-A94A3623429B}" dt="2026-05-07T22:02:10.455" v="436" actId="20577"/>
          <ac:spMkLst>
            <pc:docMk/>
            <pc:sldMk cId="1204101300" sldId="264"/>
            <ac:spMk id="14" creationId="{C60E67CD-3ABA-843D-DA36-A35E3AB8CE74}"/>
          </ac:spMkLst>
        </pc:spChg>
      </pc:sldChg>
      <pc:sldChg chg="addSp delSp modSp mod ord">
        <pc:chgData name="Rooney, Bryce Edward (53520) CIV USN NIWC PACIFIC CA (USA)" userId="802230dc-da13-4caa-9b75-cf409dfca0cb" providerId="ADAL" clId="{14E4AD74-DF90-47DB-80EB-A94A3623429B}" dt="2026-05-07T22:28:19.202" v="1075" actId="20577"/>
        <pc:sldMkLst>
          <pc:docMk/>
          <pc:sldMk cId="331372439" sldId="266"/>
        </pc:sldMkLst>
        <pc:spChg chg="mod">
          <ac:chgData name="Rooney, Bryce Edward (53520) CIV USN NIWC PACIFIC CA (USA)" userId="802230dc-da13-4caa-9b75-cf409dfca0cb" providerId="ADAL" clId="{14E4AD74-DF90-47DB-80EB-A94A3623429B}" dt="2026-05-07T22:28:19.202" v="1075" actId="20577"/>
          <ac:spMkLst>
            <pc:docMk/>
            <pc:sldMk cId="331372439" sldId="266"/>
            <ac:spMk id="14" creationId="{DC779FE1-AC4B-B488-A0E6-0869FB038228}"/>
          </ac:spMkLst>
        </pc:spChg>
        <pc:picChg chg="del">
          <ac:chgData name="Rooney, Bryce Edward (53520) CIV USN NIWC PACIFIC CA (USA)" userId="802230dc-da13-4caa-9b75-cf409dfca0cb" providerId="ADAL" clId="{14E4AD74-DF90-47DB-80EB-A94A3623429B}" dt="2026-05-07T21:18:23.390" v="0" actId="478"/>
          <ac:picMkLst>
            <pc:docMk/>
            <pc:sldMk cId="331372439" sldId="266"/>
            <ac:picMk id="3" creationId="{435219F0-6DE1-D15B-DBD9-D9FE1B5AB25A}"/>
          </ac:picMkLst>
        </pc:picChg>
        <pc:picChg chg="add mod">
          <ac:chgData name="Rooney, Bryce Edward (53520) CIV USN NIWC PACIFIC CA (USA)" userId="802230dc-da13-4caa-9b75-cf409dfca0cb" providerId="ADAL" clId="{14E4AD74-DF90-47DB-80EB-A94A3623429B}" dt="2026-05-07T21:18:27.315" v="2" actId="1076"/>
          <ac:picMkLst>
            <pc:docMk/>
            <pc:sldMk cId="331372439" sldId="266"/>
            <ac:picMk id="5" creationId="{D24C00B3-07C1-771D-E661-7992508B7C13}"/>
          </ac:picMkLst>
        </pc:picChg>
      </pc:sldChg>
      <pc:sldChg chg="modSp mod">
        <pc:chgData name="Rooney, Bryce Edward (53520) CIV USN NIWC PACIFIC CA (USA)" userId="802230dc-da13-4caa-9b75-cf409dfca0cb" providerId="ADAL" clId="{14E4AD74-DF90-47DB-80EB-A94A3623429B}" dt="2026-05-07T22:01:20.444" v="434" actId="20577"/>
        <pc:sldMkLst>
          <pc:docMk/>
          <pc:sldMk cId="1001622560" sldId="268"/>
        </pc:sldMkLst>
        <pc:spChg chg="mod">
          <ac:chgData name="Rooney, Bryce Edward (53520) CIV USN NIWC PACIFIC CA (USA)" userId="802230dc-da13-4caa-9b75-cf409dfca0cb" providerId="ADAL" clId="{14E4AD74-DF90-47DB-80EB-A94A3623429B}" dt="2026-05-07T22:01:20.444" v="434" actId="20577"/>
          <ac:spMkLst>
            <pc:docMk/>
            <pc:sldMk cId="1001622560" sldId="268"/>
            <ac:spMk id="3" creationId="{97FA8454-F80C-0215-BB29-E1C218B7C933}"/>
          </ac:spMkLst>
        </pc:spChg>
      </pc:sldChg>
      <pc:sldChg chg="modSp mod">
        <pc:chgData name="Rooney, Bryce Edward (53520) CIV USN NIWC PACIFIC CA (USA)" userId="802230dc-da13-4caa-9b75-cf409dfca0cb" providerId="ADAL" clId="{14E4AD74-DF90-47DB-80EB-A94A3623429B}" dt="2026-05-07T22:02:42.174" v="460" actId="20577"/>
        <pc:sldMkLst>
          <pc:docMk/>
          <pc:sldMk cId="967501478" sldId="269"/>
        </pc:sldMkLst>
        <pc:spChg chg="mod">
          <ac:chgData name="Rooney, Bryce Edward (53520) CIV USN NIWC PACIFIC CA (USA)" userId="802230dc-da13-4caa-9b75-cf409dfca0cb" providerId="ADAL" clId="{14E4AD74-DF90-47DB-80EB-A94A3623429B}" dt="2026-05-07T22:02:42.174" v="460" actId="20577"/>
          <ac:spMkLst>
            <pc:docMk/>
            <pc:sldMk cId="967501478" sldId="269"/>
            <ac:spMk id="2" creationId="{2D909B1D-3B3B-11E5-06CB-5D00EBCD7B0C}"/>
          </ac:spMkLst>
        </pc:spChg>
      </pc:sldChg>
      <pc:sldChg chg="modSp mod">
        <pc:chgData name="Rooney, Bryce Edward (53520) CIV USN NIWC PACIFIC CA (USA)" userId="802230dc-da13-4caa-9b75-cf409dfca0cb" providerId="ADAL" clId="{14E4AD74-DF90-47DB-80EB-A94A3623429B}" dt="2026-05-07T22:31:15.661" v="1232" actId="1076"/>
        <pc:sldMkLst>
          <pc:docMk/>
          <pc:sldMk cId="3184687460" sldId="270"/>
        </pc:sldMkLst>
        <pc:spChg chg="mod">
          <ac:chgData name="Rooney, Bryce Edward (53520) CIV USN NIWC PACIFIC CA (USA)" userId="802230dc-da13-4caa-9b75-cf409dfca0cb" providerId="ADAL" clId="{14E4AD74-DF90-47DB-80EB-A94A3623429B}" dt="2026-05-07T22:31:15.661" v="1232" actId="1076"/>
          <ac:spMkLst>
            <pc:docMk/>
            <pc:sldMk cId="3184687460" sldId="270"/>
            <ac:spMk id="7" creationId="{1B0AED33-CE42-BE71-5C63-18A838072787}"/>
          </ac:spMkLst>
        </pc:spChg>
        <pc:spChg chg="mod">
          <ac:chgData name="Rooney, Bryce Edward (53520) CIV USN NIWC PACIFIC CA (USA)" userId="802230dc-da13-4caa-9b75-cf409dfca0cb" providerId="ADAL" clId="{14E4AD74-DF90-47DB-80EB-A94A3623429B}" dt="2026-05-07T22:31:10.617" v="1229" actId="20577"/>
          <ac:spMkLst>
            <pc:docMk/>
            <pc:sldMk cId="3184687460" sldId="270"/>
            <ac:spMk id="9" creationId="{D70E59AB-06E1-E8D7-E432-2A8DC551D754}"/>
          </ac:spMkLst>
        </pc:spChg>
      </pc:sldChg>
      <pc:sldChg chg="addSp modSp mod">
        <pc:chgData name="Rooney, Bryce Edward (53520) CIV USN NIWC PACIFIC CA (USA)" userId="802230dc-da13-4caa-9b75-cf409dfca0cb" providerId="ADAL" clId="{14E4AD74-DF90-47DB-80EB-A94A3623429B}" dt="2026-05-07T22:23:10.216" v="996" actId="1076"/>
        <pc:sldMkLst>
          <pc:docMk/>
          <pc:sldMk cId="2902484084" sldId="271"/>
        </pc:sldMkLst>
        <pc:spChg chg="add mod">
          <ac:chgData name="Rooney, Bryce Edward (53520) CIV USN NIWC PACIFIC CA (USA)" userId="802230dc-da13-4caa-9b75-cf409dfca0cb" providerId="ADAL" clId="{14E4AD74-DF90-47DB-80EB-A94A3623429B}" dt="2026-05-07T22:23:10.216" v="996" actId="1076"/>
          <ac:spMkLst>
            <pc:docMk/>
            <pc:sldMk cId="2902484084" sldId="271"/>
            <ac:spMk id="7" creationId="{F981C5F4-A7D3-075A-2B97-180AB86758D3}"/>
          </ac:spMkLst>
        </pc:spChg>
        <pc:picChg chg="add mod">
          <ac:chgData name="Rooney, Bryce Edward (53520) CIV USN NIWC PACIFIC CA (USA)" userId="802230dc-da13-4caa-9b75-cf409dfca0cb" providerId="ADAL" clId="{14E4AD74-DF90-47DB-80EB-A94A3623429B}" dt="2026-05-07T22:07:43.450" v="468" actId="1076"/>
          <ac:picMkLst>
            <pc:docMk/>
            <pc:sldMk cId="2902484084" sldId="271"/>
            <ac:picMk id="4" creationId="{A061006B-D9CC-5E1F-66B1-CF31C1E6BF94}"/>
          </ac:picMkLst>
        </pc:picChg>
        <pc:picChg chg="add mod">
          <ac:chgData name="Rooney, Bryce Edward (53520) CIV USN NIWC PACIFIC CA (USA)" userId="802230dc-da13-4caa-9b75-cf409dfca0cb" providerId="ADAL" clId="{14E4AD74-DF90-47DB-80EB-A94A3623429B}" dt="2026-05-07T22:07:44.752" v="469" actId="1076"/>
          <ac:picMkLst>
            <pc:docMk/>
            <pc:sldMk cId="2902484084" sldId="271"/>
            <ac:picMk id="6" creationId="{064F98BF-12F0-A10C-55A9-8BFF6B9C4F6A}"/>
          </ac:picMkLst>
        </pc:picChg>
      </pc:sldChg>
      <pc:sldChg chg="addSp modSp mod">
        <pc:chgData name="Rooney, Bryce Edward (53520) CIV USN NIWC PACIFIC CA (USA)" userId="802230dc-da13-4caa-9b75-cf409dfca0cb" providerId="ADAL" clId="{14E4AD74-DF90-47DB-80EB-A94A3623429B}" dt="2026-05-07T22:26:44.178" v="1002" actId="1076"/>
        <pc:sldMkLst>
          <pc:docMk/>
          <pc:sldMk cId="3617148153" sldId="272"/>
        </pc:sldMkLst>
        <pc:picChg chg="add mod">
          <ac:chgData name="Rooney, Bryce Edward (53520) CIV USN NIWC PACIFIC CA (USA)" userId="802230dc-da13-4caa-9b75-cf409dfca0cb" providerId="ADAL" clId="{14E4AD74-DF90-47DB-80EB-A94A3623429B}" dt="2026-05-07T22:26:44.178" v="1002" actId="1076"/>
          <ac:picMkLst>
            <pc:docMk/>
            <pc:sldMk cId="3617148153" sldId="272"/>
            <ac:picMk id="4" creationId="{C75ACC9B-B187-BEC6-D922-B8A348C7106A}"/>
          </ac:picMkLst>
        </pc:picChg>
      </pc:sldChg>
      <pc:sldChg chg="addSp delSp modSp add mod">
        <pc:chgData name="Rooney, Bryce Edward (53520) CIV USN NIWC PACIFIC CA (USA)" userId="802230dc-da13-4caa-9b75-cf409dfca0cb" providerId="ADAL" clId="{14E4AD74-DF90-47DB-80EB-A94A3623429B}" dt="2026-05-07T22:29:09.298" v="1083" actId="1076"/>
        <pc:sldMkLst>
          <pc:docMk/>
          <pc:sldMk cId="2111630354" sldId="274"/>
        </pc:sldMkLst>
        <pc:spChg chg="mod">
          <ac:chgData name="Rooney, Bryce Edward (53520) CIV USN NIWC PACIFIC CA (USA)" userId="802230dc-da13-4caa-9b75-cf409dfca0cb" providerId="ADAL" clId="{14E4AD74-DF90-47DB-80EB-A94A3623429B}" dt="2026-05-07T21:45:29.161" v="47" actId="1076"/>
          <ac:spMkLst>
            <pc:docMk/>
            <pc:sldMk cId="2111630354" sldId="274"/>
            <ac:spMk id="2" creationId="{BD807B94-783F-321B-210B-042E2754F32B}"/>
          </ac:spMkLst>
        </pc:spChg>
        <pc:spChg chg="add mod">
          <ac:chgData name="Rooney, Bryce Edward (53520) CIV USN NIWC PACIFIC CA (USA)" userId="802230dc-da13-4caa-9b75-cf409dfca0cb" providerId="ADAL" clId="{14E4AD74-DF90-47DB-80EB-A94A3623429B}" dt="2026-05-07T22:28:56.014" v="1080" actId="1076"/>
          <ac:spMkLst>
            <pc:docMk/>
            <pc:sldMk cId="2111630354" sldId="274"/>
            <ac:spMk id="3" creationId="{194578F6-62C3-5038-979B-60A62E088FEF}"/>
          </ac:spMkLst>
        </pc:spChg>
        <pc:spChg chg="add mod">
          <ac:chgData name="Rooney, Bryce Edward (53520) CIV USN NIWC PACIFIC CA (USA)" userId="802230dc-da13-4caa-9b75-cf409dfca0cb" providerId="ADAL" clId="{14E4AD74-DF90-47DB-80EB-A94A3623429B}" dt="2026-05-07T22:29:09.298" v="1083" actId="1076"/>
          <ac:spMkLst>
            <pc:docMk/>
            <pc:sldMk cId="2111630354" sldId="274"/>
            <ac:spMk id="4" creationId="{13F79579-C895-36D9-923C-2B7524746A47}"/>
          </ac:spMkLst>
        </pc:spChg>
        <pc:picChg chg="del">
          <ac:chgData name="Rooney, Bryce Edward (53520) CIV USN NIWC PACIFIC CA (USA)" userId="802230dc-da13-4caa-9b75-cf409dfca0cb" providerId="ADAL" clId="{14E4AD74-DF90-47DB-80EB-A94A3623429B}" dt="2026-05-07T21:45:15.301" v="18" actId="478"/>
          <ac:picMkLst>
            <pc:docMk/>
            <pc:sldMk cId="2111630354" sldId="274"/>
            <ac:picMk id="7" creationId="{6698483E-B614-7732-91DD-B2659C6C7639}"/>
          </ac:picMkLst>
        </pc:picChg>
        <pc:picChg chg="del">
          <ac:chgData name="Rooney, Bryce Edward (53520) CIV USN NIWC PACIFIC CA (USA)" userId="802230dc-da13-4caa-9b75-cf409dfca0cb" providerId="ADAL" clId="{14E4AD74-DF90-47DB-80EB-A94A3623429B}" dt="2026-05-07T21:45:15.819" v="19" actId="478"/>
          <ac:picMkLst>
            <pc:docMk/>
            <pc:sldMk cId="2111630354" sldId="274"/>
            <ac:picMk id="11" creationId="{1D2D851B-E512-EA02-A650-48C30EDA784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AD779-46FE-0800-96C4-1E4241634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AD610-46CE-0F80-EBE8-DEA354A7F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DBF7F-A8A2-AFDF-503C-CF3A1DC74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15175-4BBA-185A-16DB-6A0FEC196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33B79-29E4-31BA-5760-E43C59F5C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84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8F139-E360-A1CB-5DE9-863885419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CE040-A830-460C-92E9-7ACDADD94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E2BA4-7FCD-9D74-B059-EE0CD8F4C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0E640-F9EA-7A9B-42F0-8DB84D7EE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90625-8BC2-9004-73A0-595674308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9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708FB-25FD-D830-3669-12857F0D4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7AC46-5989-8B74-88EE-FEC7E7BB5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E9FF6-CB2B-4A00-52A1-F2830053C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AF62A-DC80-128B-DEFF-030F826EE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28A43-9479-913D-979C-DE4F7C42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836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25006-B980-E738-A31D-C830AA7E3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F90BD-A052-556A-EE1C-F95E151A12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856D3-384F-5ED6-24F0-B2435E592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1DB69-E110-FE45-A9E7-22C0CCD0D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B76D8-F456-D950-DA1F-F8E06902B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BC8DC-9516-F4DC-FD34-4735CE9AD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30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2B991-3EEF-2465-E131-744F3B940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54D10-86A4-F22A-D9CD-4B11AAA4D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FD43B7-ABF6-BA18-1041-22025D681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FFE6EE-74AF-9163-D07C-BFA7F7BC6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7EF255-23C7-9C03-3302-C2C115DBDE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E68F64-BAF5-5750-8A1D-54A6C5C1B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2CA972-FACC-4C38-2AEF-EBE5880FA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A466A9-9575-56B2-D488-1AD90703A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689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2D36C-7726-65B1-55BF-8E46A06D8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5EB070-53EB-A6EB-6491-DDAEB2F37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55429-D7FD-92F1-16CA-DEA0BFBD9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1CBE6-F74C-0692-0C2E-3BFB896D3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64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474C44-4691-C5FB-2C68-3AE557D7C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97F190-80F9-0D18-6F37-A6DCB72A2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FB836-DE6B-468C-333A-4ED71A743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20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33114-6406-37AC-F42C-F7A2CB6E3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80EDC-C996-0CE5-F8D1-52E2B09A9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A2D745-5704-7451-843D-608A43C57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03626-17C1-34C0-D5C6-E035590E2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F62C9-FFB6-A8B4-FE22-B0BDAD923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74789-7EAB-6E3D-ABC1-4F9F2ACDA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12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DC243-EB89-857A-69A9-FF4E9EB3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FA6184-7146-2BD4-E5E3-27566B9990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8F574-D333-9940-0B8F-E09062C66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ED058-92A3-2514-163B-A410FD27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4A9EC-E5C9-498C-EFCD-DD82A68B8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0ECDF7-9513-7014-C6F1-82DF2A6AF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307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E079E-3D42-8A2C-B38F-47168C549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2F9E55-D44B-2C42-519E-BED80194C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A4799-CF88-E2FE-21F5-C45AAD7B5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94004-16DE-71D3-F095-D899F0B9C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9BFF8-BDCE-70FD-7AFF-F5A3C5410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59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0DE058-0EA3-E22D-D40B-C44C04C38B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162721-450E-25B7-12CD-37E64F641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759F8-AD21-58B3-01AA-2EB2DC930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3D743-D397-5245-8050-FCF27B8BE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F9616-BB49-28F7-D0BD-460D5A96D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81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4E20D5-BD04-A241-049F-279CB52B0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E2F03-4EBD-B653-8928-BF9332BD6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347C2-36E3-A67C-916A-BC4ACDD8DD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5AF960-87D0-487C-BD50-BC6BA87EEF2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F0DE2-9CA1-2827-1628-19449584F1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F4AEA-1AE2-0274-97C9-3E3B0ED14E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7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g"/><Relationship Id="rId5" Type="http://schemas.openxmlformats.org/officeDocument/2006/relationships/image" Target="../media/image17.jpg"/><Relationship Id="rId4" Type="http://schemas.openxmlformats.org/officeDocument/2006/relationships/image" Target="../media/image22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18180A-64C9-2A9B-CFB0-FCF2F7E35B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903" y="949325"/>
            <a:ext cx="8071706" cy="2387600"/>
          </a:xfrm>
        </p:spPr>
        <p:txBody>
          <a:bodyPr>
            <a:normAutofit/>
          </a:bodyPr>
          <a:lstStyle/>
          <a:p>
            <a:pPr algn="l"/>
            <a:r>
              <a:rPr lang="en-US" sz="6600">
                <a:solidFill>
                  <a:schemeClr val="bg1"/>
                </a:solidFill>
              </a:rPr>
              <a:t>Capstone Mid-Quarter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BB48C1-0882-A141-789A-AEFE16707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2902" y="3429000"/>
            <a:ext cx="8071697" cy="1655762"/>
          </a:xfrm>
        </p:spPr>
        <p:txBody>
          <a:bodyPr>
            <a:normAutofit/>
          </a:bodyPr>
          <a:lstStyle/>
          <a:p>
            <a:pPr algn="l"/>
            <a:r>
              <a:rPr lang="en-US" sz="3200">
                <a:solidFill>
                  <a:schemeClr val="bg1"/>
                </a:solidFill>
              </a:rPr>
              <a:t>UCSD WES MAS </a:t>
            </a:r>
          </a:p>
          <a:p>
            <a:pPr algn="l"/>
            <a:r>
              <a:rPr lang="en-US" sz="3200">
                <a:solidFill>
                  <a:schemeClr val="bg1"/>
                </a:solidFill>
              </a:rPr>
              <a:t>Bryce Rooney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941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3A5445-C140-F2AC-9D8A-5C5292A43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584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E0602-D295-48EF-7115-5DEC83623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6693" y="2477615"/>
            <a:ext cx="9406666" cy="3526144"/>
          </a:xfrm>
        </p:spPr>
        <p:txBody>
          <a:bodyPr>
            <a:norm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Project Description and Overview</a:t>
            </a:r>
          </a:p>
          <a:p>
            <a:pPr lvl="1"/>
            <a:r>
              <a:rPr lang="en-US" sz="1700" dirty="0">
                <a:solidFill>
                  <a:schemeClr val="bg1"/>
                </a:solidFill>
              </a:rPr>
              <a:t>Methods of Evaluation</a:t>
            </a:r>
          </a:p>
          <a:p>
            <a:pPr lvl="1"/>
            <a:r>
              <a:rPr lang="en-US" sz="1700" dirty="0">
                <a:solidFill>
                  <a:schemeClr val="bg1"/>
                </a:solidFill>
              </a:rPr>
              <a:t>LoRa Waveform</a:t>
            </a:r>
          </a:p>
          <a:p>
            <a:pPr lvl="1"/>
            <a:r>
              <a:rPr lang="en-US" sz="1700" dirty="0">
                <a:solidFill>
                  <a:schemeClr val="bg1"/>
                </a:solidFill>
              </a:rPr>
              <a:t>Current Schedule and Success</a:t>
            </a:r>
          </a:p>
          <a:p>
            <a:pPr lvl="1"/>
            <a:r>
              <a:rPr lang="en-US" sz="1700" dirty="0">
                <a:solidFill>
                  <a:schemeClr val="bg1"/>
                </a:solidFill>
              </a:rPr>
              <a:t>Future Schedule</a:t>
            </a:r>
          </a:p>
          <a:p>
            <a:r>
              <a:rPr lang="en-US" sz="2100" dirty="0">
                <a:solidFill>
                  <a:schemeClr val="bg1"/>
                </a:solidFill>
              </a:rPr>
              <a:t>Test Approach</a:t>
            </a:r>
          </a:p>
          <a:p>
            <a:r>
              <a:rPr lang="en-US" sz="2100" dirty="0">
                <a:solidFill>
                  <a:schemeClr val="bg1"/>
                </a:solidFill>
              </a:rPr>
              <a:t>Development Efforts</a:t>
            </a:r>
          </a:p>
          <a:p>
            <a:r>
              <a:rPr lang="en-US" sz="2400" dirty="0">
                <a:solidFill>
                  <a:schemeClr val="bg1"/>
                </a:solidFill>
              </a:rPr>
              <a:t>Test Bed and Equipment</a:t>
            </a:r>
          </a:p>
          <a:p>
            <a:r>
              <a:rPr lang="en-US" sz="2400" dirty="0">
                <a:solidFill>
                  <a:schemeClr val="bg1"/>
                </a:solidFill>
              </a:rPr>
              <a:t>Results So Far</a:t>
            </a:r>
          </a:p>
          <a:p>
            <a:endParaRPr lang="en-US" sz="2100" dirty="0">
              <a:solidFill>
                <a:schemeClr val="bg1"/>
              </a:solidFill>
            </a:endParaRPr>
          </a:p>
          <a:p>
            <a:endParaRPr lang="en-US" sz="2100" dirty="0">
              <a:solidFill>
                <a:schemeClr val="bg1"/>
              </a:solidFill>
            </a:endParaRPr>
          </a:p>
          <a:p>
            <a:pPr lvl="1"/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562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488EA4-9524-AE2E-6EFB-5DCD326F4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A6D6F94-1F98-5D46-E8EE-C07D5EC3B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2021AD-ED48-C5A5-0978-55FEA2BA9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US" sz="2800">
                <a:solidFill>
                  <a:schemeClr val="bg1"/>
                </a:solidFill>
              </a:rPr>
              <a:t>Quantitative Evaluation of LoRa Resiliency, Detectability, and Geolocation 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26111A-2986-42D9-3EF4-91C8C1BEF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A8454-F80C-0215-BB29-E1C218B7C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6693" y="2477615"/>
            <a:ext cx="9406666" cy="3526144"/>
          </a:xfrm>
        </p:spPr>
        <p:txBody>
          <a:bodyPr>
            <a:normAutofit lnSpcReduction="10000"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Characterize the performance of the LoRa Radio Frequency (RF) Chirp Spread Spectrum (CSS) modulation with methods used by the Department of Defense (DoD).</a:t>
            </a:r>
          </a:p>
          <a:p>
            <a:pPr lvl="1"/>
            <a:r>
              <a:rPr lang="en-US" sz="2100" dirty="0">
                <a:solidFill>
                  <a:schemeClr val="bg1"/>
                </a:solidFill>
              </a:rPr>
              <a:t>Anti-Jam and Range performance </a:t>
            </a:r>
          </a:p>
          <a:p>
            <a:pPr lvl="1"/>
            <a:r>
              <a:rPr lang="en-US" sz="2100" dirty="0">
                <a:solidFill>
                  <a:schemeClr val="bg1"/>
                </a:solidFill>
              </a:rPr>
              <a:t>Probability of Detection</a:t>
            </a:r>
          </a:p>
          <a:p>
            <a:pPr lvl="1"/>
            <a:r>
              <a:rPr lang="en-US" sz="2100" dirty="0">
                <a:solidFill>
                  <a:schemeClr val="bg1"/>
                </a:solidFill>
              </a:rPr>
              <a:t>Probability of Geolocation</a:t>
            </a:r>
          </a:p>
          <a:p>
            <a:r>
              <a:rPr lang="en-US" sz="2100" dirty="0">
                <a:solidFill>
                  <a:schemeClr val="bg1"/>
                </a:solidFill>
              </a:rPr>
              <a:t>Collaborate with Naval Information Warfare Center, Pacific (NIWC Pac) Division 535 to leverage existing facilities and equipment.</a:t>
            </a:r>
          </a:p>
          <a:p>
            <a:r>
              <a:rPr lang="en-US" sz="2100" dirty="0">
                <a:solidFill>
                  <a:schemeClr val="bg1"/>
                </a:solidFill>
              </a:rPr>
              <a:t>Write a research paper on findings with insight into desired (or not desired) characteristics and how this fits into DoD Advanced Tactical Data Links (ATDL) research and development. </a:t>
            </a:r>
          </a:p>
          <a:p>
            <a:pPr lvl="1"/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A58B89-650C-5A2B-44D0-3001B6EB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622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94216B-40D2-6247-56D5-A7CBAB944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4C3EDA-0049-E9A8-F3AB-AAF7CD206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05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Methods of Evaluation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54FE6-7BDF-F126-BB12-51858113D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051" y="2997905"/>
            <a:ext cx="9406666" cy="3526144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Probability of Detection (LPD)</a:t>
            </a:r>
          </a:p>
          <a:p>
            <a:pPr marL="457200" lvl="1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Geolocation Avoidance</a:t>
            </a:r>
          </a:p>
          <a:p>
            <a:pPr marL="457200" lvl="1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Anti-Jam and Range Performance</a:t>
            </a:r>
          </a:p>
          <a:p>
            <a:pPr marL="457200" lvl="1" indent="0"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4219EF-D79F-1C7F-4F30-EF7E0E5AEC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73293" y="2229117"/>
            <a:ext cx="1932844" cy="1932844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1C4D73-CB1E-D112-F917-7E864B050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025" y="4534577"/>
            <a:ext cx="2798112" cy="1684867"/>
          </a:xfrm>
          <a:prstGeom prst="rect">
            <a:avLst/>
          </a:prstGeom>
        </p:spPr>
      </p:pic>
      <p:pic>
        <p:nvPicPr>
          <p:cNvPr id="11" name="Picture 10" descr="A Multi-Pulse Cross Ambiguity Function for the Wideband TDOA and FDOA to  Locate an Emitter Passively">
            <a:extLst>
              <a:ext uri="{FF2B5EF4-FFF2-40B4-BE49-F238E27FC236}">
                <a16:creationId xmlns:a16="http://schemas.microsoft.com/office/drawing/2014/main" id="{915125B5-438F-4165-094E-8FD593A56D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873" y="4005960"/>
            <a:ext cx="2148922" cy="1680066"/>
          </a:xfrm>
          <a:prstGeom prst="rect">
            <a:avLst/>
          </a:prstGeom>
        </p:spPr>
      </p:pic>
      <p:pic>
        <p:nvPicPr>
          <p:cNvPr id="13" name="Picture 12" descr="How We Suppress Jamming in Defense Radar Using MVDR (Without Losing the  Target) | by Satvik singh | Medium">
            <a:extLst>
              <a:ext uri="{FF2B5EF4-FFF2-40B4-BE49-F238E27FC236}">
                <a16:creationId xmlns:a16="http://schemas.microsoft.com/office/drawing/2014/main" id="{7E1520AC-31EF-9A34-8BD5-02D717E5B2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2162" y="1332706"/>
            <a:ext cx="2321474" cy="232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72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4792D3-1C8D-F13D-DF26-38BF9977D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E4302-7F4F-AD8C-B4F5-7EE7A54F7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73" y="700777"/>
            <a:ext cx="5580993" cy="1325563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Probability of Detection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3A553-1C62-4B2F-EE35-02EA3AA7B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321041"/>
            <a:ext cx="6214766" cy="3711571"/>
          </a:xfrm>
        </p:spPr>
        <p:txBody>
          <a:bodyPr>
            <a:normAutofit lnSpcReduction="10000"/>
          </a:bodyPr>
          <a:lstStyle/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Methods and Techniques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Radiometry (energy-based detection)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Computational-heavy MATLAB Algorithm 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Compares signal to Gaussian noise</a:t>
            </a:r>
            <a:endParaRPr lang="en-US" sz="2000" dirty="0">
              <a:solidFill>
                <a:schemeClr val="bg1"/>
              </a:solidFill>
            </a:endParaRPr>
          </a:p>
          <a:p>
            <a:pPr lvl="1"/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 Quantitative Metrics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Receiver Operating Characteristic (ROC) Curve</a:t>
            </a:r>
          </a:p>
          <a:p>
            <a:pPr lvl="3"/>
            <a:r>
              <a:rPr lang="en-US" sz="1600" dirty="0">
                <a:solidFill>
                  <a:schemeClr val="bg1"/>
                </a:solidFill>
              </a:rPr>
              <a:t>Probability of true positive detections against false positive detections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Slash curve</a:t>
            </a:r>
          </a:p>
          <a:p>
            <a:pPr lvl="3"/>
            <a:r>
              <a:rPr lang="en-US" sz="1600" dirty="0">
                <a:solidFill>
                  <a:schemeClr val="bg1"/>
                </a:solidFill>
              </a:rPr>
              <a:t>Depicts the relationship between SNR and integration time for a given probability of true detection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5EA441-CB06-AA90-59C6-D2C028C35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47247" y="369913"/>
            <a:ext cx="2784532" cy="2784532"/>
          </a:xfrm>
          <a:prstGeom prst="rect">
            <a:avLst/>
          </a:prstGeom>
          <a:noFill/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87417AF-190E-4D6E-AFA6-7D3E84B0B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603" y="182859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467E3B-D785-9A33-F672-9A404FC8DC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9155" y="3730267"/>
            <a:ext cx="2867652" cy="278453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0B30ED8-273E-4C07-8568-2FE5CC5C4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5071" y="3543213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568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40F2B9-6AAD-879C-6A55-7F18B21EB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C85EEC4-5662-5ACC-E022-266460ABC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D7697-093C-2AAD-DDE4-BE22A2D4B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3067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Geo-location Avoidance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87F17B-2384-1F46-8843-51118E339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8FFB8B0-0207-F74A-C3FE-946F6F6F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60E67CD-3ABA-843D-DA36-A35E3AB8C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7146" y="2476504"/>
            <a:ext cx="6214766" cy="3711571"/>
          </a:xfrm>
        </p:spPr>
        <p:txBody>
          <a:bodyPr>
            <a:normAutofit/>
          </a:bodyPr>
          <a:lstStyle/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Methods and Techniques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Cross Ambiguity Function (CAF) Analysis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Time Difference of Arrival (TDOA)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Frequency Difference of Arrival (FDOA)</a:t>
            </a:r>
          </a:p>
          <a:p>
            <a:pPr marL="457200" lvl="1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 Quantitative Metrics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CAF output 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Peak Magnitude and radius</a:t>
            </a:r>
          </a:p>
        </p:txBody>
      </p:sp>
      <p:pic>
        <p:nvPicPr>
          <p:cNvPr id="16" name="Picture 15" descr="International Journal of Engineering &amp; Advanced Technology (IJEAT)">
            <a:extLst>
              <a:ext uri="{FF2B5EF4-FFF2-40B4-BE49-F238E27FC236}">
                <a16:creationId xmlns:a16="http://schemas.microsoft.com/office/drawing/2014/main" id="{D72267DB-4048-C212-AE79-82FCD41B8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244" y="2570174"/>
            <a:ext cx="3650868" cy="273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101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85FB16-8840-350D-B016-199B00B84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232F19-9AE1-174E-3DBF-BDE1F4A014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300579-72E1-F49A-006E-C31DC520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584"/>
            <a:ext cx="4508946" cy="1325563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Anti-Jam and Range Performance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B251FF-445F-E432-F215-D88A57AB5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0A763E2-3463-BA31-1EA3-67CB47A60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779FE1-AC4B-B488-A0E6-0869FB038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473441"/>
            <a:ext cx="6214766" cy="3711571"/>
          </a:xfrm>
        </p:spPr>
        <p:txBody>
          <a:bodyPr>
            <a:normAutofit fontScale="92500" lnSpcReduction="10000"/>
          </a:bodyPr>
          <a:lstStyle/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Methods and Techniques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Radio Channel Emulator (RCE) 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Live Scripts for RCE control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Simulated distances and signal level analysis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Jamming insertion</a:t>
            </a:r>
          </a:p>
          <a:p>
            <a:pPr marL="457200" lvl="1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 Quantitative Metrics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Range Ratio – Jamming</a:t>
            </a:r>
          </a:p>
          <a:p>
            <a:pPr lvl="3"/>
            <a:r>
              <a:rPr lang="en-US" sz="1600" dirty="0">
                <a:solidFill>
                  <a:schemeClr val="bg1"/>
                </a:solidFill>
              </a:rPr>
              <a:t>ratio of the distance to a friendly receiver versus the distance to a jamming threat</a:t>
            </a:r>
          </a:p>
          <a:p>
            <a:pPr lvl="2"/>
            <a:r>
              <a:rPr lang="en-US" sz="1800" dirty="0">
                <a:solidFill>
                  <a:schemeClr val="bg1"/>
                </a:solidFill>
              </a:rPr>
              <a:t>Range Ratio – Detection </a:t>
            </a:r>
          </a:p>
          <a:p>
            <a:pPr lvl="3"/>
            <a:r>
              <a:rPr lang="en-US" sz="1600" dirty="0">
                <a:solidFill>
                  <a:schemeClr val="bg1"/>
                </a:solidFill>
              </a:rPr>
              <a:t>ratio of the distance to a friendly receiver versus the distance to a threat detector in an LPD environment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4C00B3-07C1-771D-E661-7992508B7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341" y="1471339"/>
            <a:ext cx="3277057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72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902C59-08BB-7AF2-E330-4B9A2934D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65982F8-5AD1-A40A-98E0-65F7BF0B3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451393-590F-0B5E-15B8-D1019DB2C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676" y="585584"/>
            <a:ext cx="6054213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Long Range (LoRa) Chirp Spread Spectrum (CSS)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788D1F-4E09-F6B4-54D1-A355244E5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8045BFE-20D0-AF27-791A-DEB09A3D4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2806CC9-4B5A-7651-3360-3FA75196D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473441"/>
            <a:ext cx="6214766" cy="3711571"/>
          </a:xfrm>
        </p:spPr>
        <p:txBody>
          <a:bodyPr>
            <a:normAutofit/>
          </a:bodyPr>
          <a:lstStyle/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Proprietary modulation technique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Commercial Off-The-Shelf (COTS)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Extremely Low Cost, Size, and Power consumption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Modulation uses “Chirps” – linear sweeps in frequency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Receiver Sensitivity can be below thermal noise floor – valuable for range and resiliency performance</a:t>
            </a: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B14C59-42AA-26A4-4A83-A70DD90A6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4333" y="791022"/>
            <a:ext cx="2856376" cy="14995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31A05A1-A53C-CCF2-558F-6A9783BA7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032" y="4107284"/>
            <a:ext cx="2628885" cy="2274588"/>
          </a:xfrm>
          <a:prstGeom prst="rect">
            <a:avLst/>
          </a:prstGeom>
        </p:spPr>
      </p:pic>
      <p:pic>
        <p:nvPicPr>
          <p:cNvPr id="19" name="Picture 18" descr="Casually Chirping Into The World Of LoRaWAN | Hackaday">
            <a:extLst>
              <a:ext uri="{FF2B5EF4-FFF2-40B4-BE49-F238E27FC236}">
                <a16:creationId xmlns:a16="http://schemas.microsoft.com/office/drawing/2014/main" id="{1A02009B-2622-FF89-EB30-4EB52E2FE0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58" t="28532" r="5845" b="27370"/>
          <a:stretch>
            <a:fillRect/>
          </a:stretch>
        </p:blipFill>
        <p:spPr>
          <a:xfrm>
            <a:off x="6763849" y="2585751"/>
            <a:ext cx="4905261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03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B40A24-6B6D-6741-45BC-0E05A6C8D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FF3C30F-A099-EA37-5165-DC8D087D3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09B1D-3B3B-11E5-06CB-5D00EBCD7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07067" y="700777"/>
            <a:ext cx="6054213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Schedule and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Progress (May 8)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B7992B-AF17-FC42-3F1C-0BFAEEE67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79FFF1E-D5ED-A3F2-E665-B40B1FFE4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3E929F-EBB7-85BD-8559-68D9999730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743"/>
          <a:stretch>
            <a:fillRect/>
          </a:stretch>
        </p:blipFill>
        <p:spPr>
          <a:xfrm>
            <a:off x="977037" y="2141533"/>
            <a:ext cx="10237926" cy="44592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C52435-E882-D24C-7F4B-74ECA9333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8418" y="1237469"/>
            <a:ext cx="1676545" cy="76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501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8C1669-16E2-843B-AB4C-A9B1ACE9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13D6AE3-6144-FC9A-C6BA-28DD04603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807B94-783F-321B-210B-042E2754F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65665" y="700777"/>
            <a:ext cx="6054213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Upcoming Milestones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912272-B784-5225-E3F9-8DF3BFD44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46525DB-2487-CEB6-325B-337DF323F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578F6-62C3-5038-979B-60A62E088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789" y="2216990"/>
            <a:ext cx="5715786" cy="3711571"/>
          </a:xfrm>
        </p:spPr>
        <p:txBody>
          <a:bodyPr>
            <a:normAutofit/>
          </a:bodyPr>
          <a:lstStyle/>
          <a:p>
            <a:pPr lvl="1">
              <a:lnSpc>
                <a:spcPct val="100000"/>
              </a:lnSpc>
            </a:pPr>
            <a:r>
              <a:rPr lang="en-US" sz="2800" dirty="0">
                <a:solidFill>
                  <a:schemeClr val="bg1"/>
                </a:solidFill>
              </a:rPr>
              <a:t>Test Execution Dates</a:t>
            </a:r>
          </a:p>
          <a:p>
            <a:pPr lvl="2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Anti-Jam / Range: 8 May</a:t>
            </a:r>
          </a:p>
          <a:p>
            <a:pPr lvl="2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Geolocation / CAF: 10 May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Paper Drafting Full Effort</a:t>
            </a:r>
          </a:p>
          <a:p>
            <a:pPr lvl="2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15 May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All Data/Metrics exported from Lab</a:t>
            </a:r>
          </a:p>
          <a:p>
            <a:pPr lvl="2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May 19</a:t>
            </a:r>
          </a:p>
          <a:p>
            <a:pPr marL="457200" lvl="1" indent="0"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3F79579-C895-36D9-923C-2B7524746A47}"/>
              </a:ext>
            </a:extLst>
          </p:cNvPr>
          <p:cNvSpPr txBox="1">
            <a:spLocks/>
          </p:cNvSpPr>
          <p:nvPr/>
        </p:nvSpPr>
        <p:spPr>
          <a:xfrm>
            <a:off x="6505575" y="3636239"/>
            <a:ext cx="5023407" cy="3711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Paper First Draft</a:t>
            </a:r>
          </a:p>
          <a:p>
            <a:pPr lvl="2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May 24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Video Presentation Full effort </a:t>
            </a:r>
            <a:endParaRPr lang="en-US" sz="1800" dirty="0">
              <a:solidFill>
                <a:schemeClr val="bg1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May 29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Paper and Video Submitted</a:t>
            </a:r>
          </a:p>
          <a:p>
            <a:pPr lvl="2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June 5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630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04636A-5D4D-C4E7-8D4A-9CCC92F80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17D1FD6-55B8-C158-46BF-80A412A1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E50285-E49A-946B-971A-FD65171F3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7479" y="585584"/>
            <a:ext cx="6054213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Test Approach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F13B51-0B0A-EA1E-ACA5-D6C0066C6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23A146D-1CB4-94CA-8DB3-759CF41A2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315769-5CD9-2FB8-AE8C-5AE8616CA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183" y="2282107"/>
            <a:ext cx="7858412" cy="244754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0AED33-CE42-BE71-5C63-18A838072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105" y="4844848"/>
            <a:ext cx="11121470" cy="1656590"/>
          </a:xfrm>
        </p:spPr>
        <p:txBody>
          <a:bodyPr>
            <a:normAutofit fontScale="85000" lnSpcReduction="20000"/>
          </a:bodyPr>
          <a:lstStyle/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At set SF how effective is changing the BW?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At Set BW, how effective is changing the SF?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At set effective data rate, compare the performance of small SF and short BW against high SF and long BW. (SF7 @ ~25kHz vs SF12 @ 500kHz)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Compare Results to other waveforms as possible (scrub proprietary and Controlled Unclassified Information (CUI)</a:t>
            </a:r>
          </a:p>
          <a:p>
            <a:pPr lvl="1">
              <a:lnSpc>
                <a:spcPct val="100000"/>
              </a:lnSpc>
            </a:pPr>
            <a:endParaRPr lang="en-US" sz="20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70E59AB-06E1-E8D7-E432-2A8DC551D754}"/>
              </a:ext>
            </a:extLst>
          </p:cNvPr>
          <p:cNvSpPr txBox="1">
            <a:spLocks/>
          </p:cNvSpPr>
          <p:nvPr/>
        </p:nvSpPr>
        <p:spPr>
          <a:xfrm>
            <a:off x="-167534" y="2381539"/>
            <a:ext cx="3923511" cy="2348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Iterative testing against various LoRa Configurations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Spread Factor (SF) and Bandwidth (BW) variations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Other Interpretation: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687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D2F5A1-D455-3596-F19B-B7BC8FD31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BA55A61-6C26-8D67-CA8A-9550D8C5E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A2C82C-B7F4-46E1-8A7F-A5BD7BD48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7479" y="585584"/>
            <a:ext cx="6054213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Development Efforts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FDA1D5-1D54-4D80-A9D2-DDCECBC5CF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198D8D4-EEB6-8ECE-9853-1F6346D49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61006B-D9CC-5E1F-66B1-CF31C1E6B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73" y="2216944"/>
            <a:ext cx="3553358" cy="19361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4F98BF-12F0-A10C-55A9-8BFF6B9C4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913" y="4343198"/>
            <a:ext cx="4092596" cy="220953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981C5F4-A7D3-075A-2B97-180AB86758D3}"/>
              </a:ext>
            </a:extLst>
          </p:cNvPr>
          <p:cNvSpPr txBox="1">
            <a:spLocks/>
          </p:cNvSpPr>
          <p:nvPr/>
        </p:nvSpPr>
        <p:spPr>
          <a:xfrm>
            <a:off x="5273738" y="2273149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LoRa development boards (</a:t>
            </a:r>
            <a:r>
              <a:rPr lang="en-US" sz="2000" dirty="0" err="1">
                <a:solidFill>
                  <a:schemeClr val="bg1"/>
                </a:solidFill>
              </a:rPr>
              <a:t>Heltec</a:t>
            </a:r>
            <a:r>
              <a:rPr lang="en-US" sz="2000" dirty="0">
                <a:solidFill>
                  <a:schemeClr val="bg1"/>
                </a:solidFill>
              </a:rPr>
              <a:t> LoRa V3)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Visual Studio Code C++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Platform IO extension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“Application” traffic exercises waveform signal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50B payload transmitted ~once per second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ACK/NACK between the two with output logging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Single code base for quick uploads between test configs</a:t>
            </a:r>
          </a:p>
          <a:p>
            <a:pPr lvl="2">
              <a:lnSpc>
                <a:spcPct val="100000"/>
              </a:lnSpc>
            </a:pPr>
            <a:r>
              <a:rPr lang="en-US" sz="1600" dirty="0">
                <a:solidFill>
                  <a:schemeClr val="bg1"/>
                </a:solidFill>
              </a:rPr>
              <a:t>SF and BW inputs with dynamic protocol adjustment to minimize iterative testing </a:t>
            </a:r>
          </a:p>
          <a:p>
            <a:pPr lvl="2">
              <a:lnSpc>
                <a:spcPct val="100000"/>
              </a:lnSpc>
            </a:pPr>
            <a:r>
              <a:rPr lang="en-US" sz="1600" dirty="0">
                <a:solidFill>
                  <a:schemeClr val="bg1"/>
                </a:solidFill>
              </a:rPr>
              <a:t>Code base works as ACK device or Tx device with button toggle</a:t>
            </a: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484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ACBB82-385B-E296-3D17-5F032FB4E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F1D198E-F60A-9651-2339-335E1A7CA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5C13E-BF79-4159-CC29-93CDF66BC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7479" y="700777"/>
            <a:ext cx="6054213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Test Bed and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Equipment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2AEE75-FB0B-48D1-D829-1DD5F0955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367ADA0-CEEF-E84A-8FB5-92B410224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5ACC9B-B187-BEC6-D922-B8A348C71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325" y="2237471"/>
            <a:ext cx="8201022" cy="432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48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1FD580-7E2A-02C6-D446-2BB77F42D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0B2ACA-0964-8A15-15CC-9108F8A0A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740B62-1C42-EF61-3FB6-5EFD3B4CA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7479" y="700777"/>
            <a:ext cx="6054213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Results so Far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302F71-1468-A555-4803-A4D0F2F94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B6EEFE8-9C8D-A9C0-27A1-DF94965E7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9D411-08C5-5390-24FB-BFF1F2CE22FF}"/>
              </a:ext>
            </a:extLst>
          </p:cNvPr>
          <p:cNvSpPr txBox="1">
            <a:spLocks/>
          </p:cNvSpPr>
          <p:nvPr/>
        </p:nvSpPr>
        <p:spPr>
          <a:xfrm>
            <a:off x="4939441" y="2141533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Detectability test cases with all LoRa configs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Met obstacles in RF recording and MATLAB algorithm parameters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Confirmed valid output metrics.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All data being processed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ROC &amp; Slash Curves with Histograms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B0F93D-2CF7-A9BA-5A3E-6F05BA016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098" y="4493485"/>
            <a:ext cx="3434926" cy="20683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9E3ACA-5488-C982-B9A7-F9345FAA5B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58" y="2442827"/>
            <a:ext cx="3224718" cy="19417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858432-70BE-BFA3-8784-BFB5500C7B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778" y="4499765"/>
            <a:ext cx="3365211" cy="202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954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D63DE4-0879-887A-4C9E-583399216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A40B32-988B-E493-8F2B-F4F4F771D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982B3-6475-3508-CE35-C7B66FDAC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7479" y="700777"/>
            <a:ext cx="6054213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Histograms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8836A85-B1A2-9042-6D72-DF357FDBC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618C0AC-9298-2227-AF23-AC41ACB4B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7F2D50-1D56-6B37-26A3-CA53ADD2C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274" y="4622189"/>
            <a:ext cx="3119619" cy="18784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14E056-C06F-79EC-0BD7-49514EDB00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440" y="2228980"/>
            <a:ext cx="3119617" cy="18784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B9BB08F-C0F2-0E32-B5AC-669EE9CC30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045" y="2235811"/>
            <a:ext cx="3119614" cy="187845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B26FE9B-C4F1-E59B-BE63-D816218491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633" y="4629020"/>
            <a:ext cx="3119615" cy="187845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7E0140A-29EB-5093-FEEA-B2D7DD46E9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454" y="4629020"/>
            <a:ext cx="3119614" cy="1878457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FC54E95-3953-9570-D812-7732F122997E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SNR 0 dB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SNR -5 dB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SNR -10 dB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SNR -15 dB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SNR -20dB</a:t>
            </a: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384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55FC57-A386-0885-EDB1-B3278E0EF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54FA4C7-0D93-167E-908E-20A862E8B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0ACA2D-72C8-4227-D679-0D6BFC9C6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339" y="115193"/>
            <a:ext cx="6054213" cy="990017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ROC Curve (0 &amp; -5 dB SNR)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666294-B1E1-3034-17FB-24E639EF6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5C98C60-5FD1-3F00-EB39-B7796993A8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FF95616-B13B-5579-E5FB-3F7C4110B794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467E9B-F14E-247D-EFD0-828BE411E1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476" y="1105210"/>
            <a:ext cx="9201048" cy="554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066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09A17B-4EEC-9A86-000A-FC30B78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C6BA27-5EE2-D1C2-68C6-673966F4F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03B4E4-EAE8-5757-92F7-A2CF9C707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339" y="115193"/>
            <a:ext cx="6054213" cy="990017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ROC Curve (-10dB SNR)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9367959-7C1F-4632-0110-D18C9C78B9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A853B61-C94D-6813-3290-908A775CB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6D3078D-C79E-C28F-C214-C6B0BBFAECBB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41D5BD-4247-330A-D644-47533C545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950" y="1220403"/>
            <a:ext cx="8874730" cy="534386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217CD78-261C-4663-6821-4B26C88A65B6}"/>
              </a:ext>
            </a:extLst>
          </p:cNvPr>
          <p:cNvCxnSpPr>
            <a:cxnSpLocks/>
          </p:cNvCxnSpPr>
          <p:nvPr/>
        </p:nvCxnSpPr>
        <p:spPr>
          <a:xfrm>
            <a:off x="2950464" y="2267712"/>
            <a:ext cx="96113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45368A-9C8D-B50C-A723-24FE88C0B2B3}"/>
              </a:ext>
            </a:extLst>
          </p:cNvPr>
          <p:cNvCxnSpPr>
            <a:cxnSpLocks/>
          </p:cNvCxnSpPr>
          <p:nvPr/>
        </p:nvCxnSpPr>
        <p:spPr>
          <a:xfrm>
            <a:off x="3911600" y="2267712"/>
            <a:ext cx="0" cy="363164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0829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8991E-014B-B270-3572-B1045DE40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6B46D9-F1E6-177E-B15A-F210C483E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4C6DFE-4524-7E59-155C-519789CD6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339" y="115193"/>
            <a:ext cx="6054213" cy="990017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ROC Curve (-15dB SNR)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55A7178-FF9C-51E8-D42A-9BFEDA30E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459D599-453B-7B15-5F44-5A7F65F84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961255A-08AD-58BE-604B-6D090AE28368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F033D-1567-AAAC-46D7-63C5D8DDEA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867" y="1105210"/>
            <a:ext cx="9169370" cy="552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847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6ED428-7B5E-241A-C52C-3BB209A04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291540C-5AD3-D49B-89B3-DA2DCD513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7158D3-0A3F-DDF0-18D4-0B7B1832A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339" y="115193"/>
            <a:ext cx="7015181" cy="990017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Slash Curve (Pd = .75, Pfa = .25)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5D26181-3E5D-93FF-A171-38934400A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35456D2-6C89-60C7-2342-2F28F3874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ECFB990-F012-0D62-12B8-113AB8891AFA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E81336-550B-E30F-F4FA-FFF594D59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753" y="1105210"/>
            <a:ext cx="9208762" cy="5545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41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DE2232-7CFD-956A-7BC4-794F026B9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BAB169F-B9D9-A3E2-A087-76FF92CEB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0DB7F2-6BDD-391A-C52C-AF6FDD99A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339" y="115193"/>
            <a:ext cx="7015181" cy="990017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Slash Curve (Pd = .85, Pfa = .15)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59F7E-DA6A-38FF-1EEF-2944E8421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86CB8D9-E0CC-CF0C-B81C-413B64BE4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1C0CE94-FD25-36C2-BFC4-80FBA32170A0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004873-638D-9991-BA02-C5D22B3B2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627" y="1220403"/>
            <a:ext cx="8950994" cy="5389788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F8F0B0-8788-042F-2493-D1B476265230}"/>
              </a:ext>
            </a:extLst>
          </p:cNvPr>
          <p:cNvCxnSpPr/>
          <p:nvPr/>
        </p:nvCxnSpPr>
        <p:spPr>
          <a:xfrm flipV="1">
            <a:off x="6638544" y="3816096"/>
            <a:ext cx="0" cy="20848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98329FF-10FF-A76F-6712-2C0AD620DC41}"/>
              </a:ext>
            </a:extLst>
          </p:cNvPr>
          <p:cNvCxnSpPr>
            <a:cxnSpLocks/>
          </p:cNvCxnSpPr>
          <p:nvPr/>
        </p:nvCxnSpPr>
        <p:spPr>
          <a:xfrm>
            <a:off x="3133344" y="3816096"/>
            <a:ext cx="35052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567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5B1D89-2DE6-577C-E833-406F56545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98AF6B2-23F0-526D-D40A-9E18D26E0F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006A73-C446-C1D9-B110-C8DAE6B7B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339" y="115193"/>
            <a:ext cx="6054213" cy="990017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ROC Curve (-10dB SNR)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008131D-922A-B6E6-08D6-1FC60CF9B2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CB4DA13-8C09-7CFA-BF57-6A7CEA3E6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B2C8362-38B8-7510-CDCB-5A32A2800FFF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DB2C6C-95F0-1E89-D75A-AFEF67AB7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950" y="1220403"/>
            <a:ext cx="8874730" cy="534386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9F4C042-5C07-FE40-8738-C765FFE7DA2E}"/>
              </a:ext>
            </a:extLst>
          </p:cNvPr>
          <p:cNvCxnSpPr>
            <a:cxnSpLocks/>
          </p:cNvCxnSpPr>
          <p:nvPr/>
        </p:nvCxnSpPr>
        <p:spPr>
          <a:xfrm>
            <a:off x="2950464" y="2267712"/>
            <a:ext cx="96113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462DA8-3D41-7A1E-4EC6-AD3BCC0C252C}"/>
              </a:ext>
            </a:extLst>
          </p:cNvPr>
          <p:cNvCxnSpPr>
            <a:cxnSpLocks/>
          </p:cNvCxnSpPr>
          <p:nvPr/>
        </p:nvCxnSpPr>
        <p:spPr>
          <a:xfrm>
            <a:off x="3911600" y="2267712"/>
            <a:ext cx="0" cy="363164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136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A59971-9206-512B-1D06-53C59ED6A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505220D-8C1D-FB53-3B92-0755CE53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C57AE7-E6E4-34E7-D9B7-67D33488D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339" y="115193"/>
            <a:ext cx="7015181" cy="990017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Slash Curve (Pd = .95, Pfa = .05)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823738D-0DB9-6D5D-FE64-A061C15EC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0F26BAA-C8E8-5E7F-AF77-78EB407AB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CD1F7B5-81A4-D448-B360-54F00616064C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921FF2-4969-7299-CD8C-AA7C0E55C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826" y="1220403"/>
            <a:ext cx="8942347" cy="538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727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27ac744-d744-4b94-baa9-948b89b4017a}" enabled="1" method="Standard" siteId="{e3333e00-c877-4b87-b6ad-45e942de175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10553</TotalTime>
  <Words>715</Words>
  <Application>Microsoft Office PowerPoint</Application>
  <PresentationFormat>Widescreen</PresentationFormat>
  <Paragraphs>119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Capstone Mid-Quarter Update</vt:lpstr>
      <vt:lpstr>Agenda</vt:lpstr>
      <vt:lpstr>Quantitative Evaluation of LoRa Resiliency, Detectability, and Geolocation  </vt:lpstr>
      <vt:lpstr>Methods of Evaluation</vt:lpstr>
      <vt:lpstr>Probability of Detection</vt:lpstr>
      <vt:lpstr>Geo-location Avoidance</vt:lpstr>
      <vt:lpstr>Anti-Jam and Range Performance</vt:lpstr>
      <vt:lpstr>Long Range (LoRa) Chirp Spread Spectrum (CSS)</vt:lpstr>
      <vt:lpstr>Schedule and  Progress (May 8)</vt:lpstr>
      <vt:lpstr>Upcoming Milestones</vt:lpstr>
      <vt:lpstr>Test Approach</vt:lpstr>
      <vt:lpstr>Development Efforts</vt:lpstr>
      <vt:lpstr>Test Bed and  Equipment</vt:lpstr>
      <vt:lpstr>Results so Far</vt:lpstr>
      <vt:lpstr>Histograms</vt:lpstr>
      <vt:lpstr>ROC Curve (0 &amp; -5 dB SNR)</vt:lpstr>
      <vt:lpstr>ROC Curve (-10dB SNR)</vt:lpstr>
      <vt:lpstr>ROC Curve (-15dB SNR)</vt:lpstr>
      <vt:lpstr>Slash Curve (Pd = .75, Pfa = .25)</vt:lpstr>
      <vt:lpstr>Slash Curve (Pd = .85, Pfa = .15)</vt:lpstr>
      <vt:lpstr>ROC Curve (-10dB SNR)</vt:lpstr>
      <vt:lpstr>Slash Curve (Pd = .95, Pfa = .05)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Rooney, Bryce Edward (53520) CIV USN NIWC PACIFIC CA (USA)</dc:creator>
  <cp:lastModifiedBy>Yadi R</cp:lastModifiedBy>
  <cp:revision>8</cp:revision>
  <dcterms:created xsi:type="dcterms:W3CDTF">2026-03-31T19:56:18Z</dcterms:created>
  <dcterms:modified xsi:type="dcterms:W3CDTF">2026-05-08T05:06:57Z</dcterms:modified>
</cp:coreProperties>
</file>
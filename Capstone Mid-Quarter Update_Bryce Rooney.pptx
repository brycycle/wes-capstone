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68" r:id="rId4"/>
    <p:sldId id="262" r:id="rId5"/>
    <p:sldId id="263" r:id="rId6"/>
    <p:sldId id="264" r:id="rId7"/>
    <p:sldId id="266" r:id="rId8"/>
    <p:sldId id="267" r:id="rId9"/>
    <p:sldId id="269" r:id="rId10"/>
    <p:sldId id="274" r:id="rId11"/>
    <p:sldId id="270" r:id="rId12"/>
    <p:sldId id="271" r:id="rId13"/>
    <p:sldId id="272" r:id="rId14"/>
    <p:sldId id="273" r:id="rId15"/>
    <p:sldId id="275" r:id="rId16"/>
    <p:sldId id="276" r:id="rId17"/>
    <p:sldId id="277" r:id="rId18"/>
    <p:sldId id="278" r:id="rId19"/>
    <p:sldId id="279" r:id="rId20"/>
    <p:sldId id="280" r:id="rId21"/>
    <p:sldId id="282" r:id="rId22"/>
    <p:sldId id="28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636ACD-020F-4D73-8CFB-5E79BCD32D5A}" v="3" dt="2026-05-07T22:16:53.4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74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14E4AD74-DF90-47DB-80EB-A94A3623429B}"/>
    <pc:docChg chg="custSel addSld modSld sldOrd">
      <pc:chgData name="Rooney, Bryce Edward (53520) CIV USN NIWC PACIFIC CA (USA)" userId="802230dc-da13-4caa-9b75-cf409dfca0cb" providerId="ADAL" clId="{14E4AD74-DF90-47DB-80EB-A94A3623429B}" dt="2026-05-07T22:31:15.661" v="1232" actId="1076"/>
      <pc:docMkLst>
        <pc:docMk/>
      </pc:docMkLst>
      <pc:sldChg chg="modSp mod">
        <pc:chgData name="Rooney, Bryce Edward (53520) CIV USN NIWC PACIFIC CA (USA)" userId="802230dc-da13-4caa-9b75-cf409dfca0cb" providerId="ADAL" clId="{14E4AD74-DF90-47DB-80EB-A94A3623429B}" dt="2026-05-07T22:02:10.455" v="436" actId="20577"/>
        <pc:sldMkLst>
          <pc:docMk/>
          <pc:sldMk cId="1204101300" sldId="264"/>
        </pc:sldMkLst>
        <pc:spChg chg="mod">
          <ac:chgData name="Rooney, Bryce Edward (53520) CIV USN NIWC PACIFIC CA (USA)" userId="802230dc-da13-4caa-9b75-cf409dfca0cb" providerId="ADAL" clId="{14E4AD74-DF90-47DB-80EB-A94A3623429B}" dt="2026-05-07T22:02:10.455" v="436" actId="20577"/>
          <ac:spMkLst>
            <pc:docMk/>
            <pc:sldMk cId="1204101300" sldId="264"/>
            <ac:spMk id="14" creationId="{C60E67CD-3ABA-843D-DA36-A35E3AB8CE74}"/>
          </ac:spMkLst>
        </pc:spChg>
      </pc:sldChg>
      <pc:sldChg chg="addSp delSp modSp mod ord">
        <pc:chgData name="Rooney, Bryce Edward (53520) CIV USN NIWC PACIFIC CA (USA)" userId="802230dc-da13-4caa-9b75-cf409dfca0cb" providerId="ADAL" clId="{14E4AD74-DF90-47DB-80EB-A94A3623429B}" dt="2026-05-07T22:28:19.202" v="1075" actId="20577"/>
        <pc:sldMkLst>
          <pc:docMk/>
          <pc:sldMk cId="331372439" sldId="266"/>
        </pc:sldMkLst>
        <pc:spChg chg="mod">
          <ac:chgData name="Rooney, Bryce Edward (53520) CIV USN NIWC PACIFIC CA (USA)" userId="802230dc-da13-4caa-9b75-cf409dfca0cb" providerId="ADAL" clId="{14E4AD74-DF90-47DB-80EB-A94A3623429B}" dt="2026-05-07T22:28:19.202" v="1075" actId="20577"/>
          <ac:spMkLst>
            <pc:docMk/>
            <pc:sldMk cId="331372439" sldId="266"/>
            <ac:spMk id="14" creationId="{DC779FE1-AC4B-B488-A0E6-0869FB038228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18:23.390" v="0" actId="478"/>
          <ac:picMkLst>
            <pc:docMk/>
            <pc:sldMk cId="331372439" sldId="266"/>
            <ac:picMk id="3" creationId="{435219F0-6DE1-D15B-DBD9-D9FE1B5AB25A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1:18:27.315" v="2" actId="1076"/>
          <ac:picMkLst>
            <pc:docMk/>
            <pc:sldMk cId="331372439" sldId="266"/>
            <ac:picMk id="5" creationId="{D24C00B3-07C1-771D-E661-7992508B7C13}"/>
          </ac:picMkLst>
        </pc:picChg>
      </pc:sldChg>
      <pc:sldChg chg="modSp mod">
        <pc:chgData name="Rooney, Bryce Edward (53520) CIV USN NIWC PACIFIC CA (USA)" userId="802230dc-da13-4caa-9b75-cf409dfca0cb" providerId="ADAL" clId="{14E4AD74-DF90-47DB-80EB-A94A3623429B}" dt="2026-05-07T22:01:20.444" v="434" actId="20577"/>
        <pc:sldMkLst>
          <pc:docMk/>
          <pc:sldMk cId="1001622560" sldId="268"/>
        </pc:sldMkLst>
        <pc:spChg chg="mod">
          <ac:chgData name="Rooney, Bryce Edward (53520) CIV USN NIWC PACIFIC CA (USA)" userId="802230dc-da13-4caa-9b75-cf409dfca0cb" providerId="ADAL" clId="{14E4AD74-DF90-47DB-80EB-A94A3623429B}" dt="2026-05-07T22:01:20.444" v="434" actId="20577"/>
          <ac:spMkLst>
            <pc:docMk/>
            <pc:sldMk cId="1001622560" sldId="268"/>
            <ac:spMk id="3" creationId="{97FA8454-F80C-0215-BB29-E1C218B7C933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02:42.174" v="460" actId="20577"/>
        <pc:sldMkLst>
          <pc:docMk/>
          <pc:sldMk cId="967501478" sldId="269"/>
        </pc:sldMkLst>
        <pc:spChg chg="mod">
          <ac:chgData name="Rooney, Bryce Edward (53520) CIV USN NIWC PACIFIC CA (USA)" userId="802230dc-da13-4caa-9b75-cf409dfca0cb" providerId="ADAL" clId="{14E4AD74-DF90-47DB-80EB-A94A3623429B}" dt="2026-05-07T22:02:42.174" v="460" actId="20577"/>
          <ac:spMkLst>
            <pc:docMk/>
            <pc:sldMk cId="967501478" sldId="269"/>
            <ac:spMk id="2" creationId="{2D909B1D-3B3B-11E5-06CB-5D00EBCD7B0C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31:15.661" v="1232" actId="1076"/>
        <pc:sldMkLst>
          <pc:docMk/>
          <pc:sldMk cId="3184687460" sldId="270"/>
        </pc:sldMkLst>
        <pc:spChg chg="mod">
          <ac:chgData name="Rooney, Bryce Edward (53520) CIV USN NIWC PACIFIC CA (USA)" userId="802230dc-da13-4caa-9b75-cf409dfca0cb" providerId="ADAL" clId="{14E4AD74-DF90-47DB-80EB-A94A3623429B}" dt="2026-05-07T22:31:15.661" v="1232" actId="1076"/>
          <ac:spMkLst>
            <pc:docMk/>
            <pc:sldMk cId="3184687460" sldId="270"/>
            <ac:spMk id="7" creationId="{1B0AED33-CE42-BE71-5C63-18A838072787}"/>
          </ac:spMkLst>
        </pc:spChg>
        <pc:spChg chg="mod">
          <ac:chgData name="Rooney, Bryce Edward (53520) CIV USN NIWC PACIFIC CA (USA)" userId="802230dc-da13-4caa-9b75-cf409dfca0cb" providerId="ADAL" clId="{14E4AD74-DF90-47DB-80EB-A94A3623429B}" dt="2026-05-07T22:31:10.617" v="1229" actId="20577"/>
          <ac:spMkLst>
            <pc:docMk/>
            <pc:sldMk cId="3184687460" sldId="270"/>
            <ac:spMk id="9" creationId="{D70E59AB-06E1-E8D7-E432-2A8DC551D754}"/>
          </ac:spMkLst>
        </pc:spChg>
      </pc:sldChg>
      <pc:sldChg chg="addSp modSp mod">
        <pc:chgData name="Rooney, Bryce Edward (53520) CIV USN NIWC PACIFIC CA (USA)" userId="802230dc-da13-4caa-9b75-cf409dfca0cb" providerId="ADAL" clId="{14E4AD74-DF90-47DB-80EB-A94A3623429B}" dt="2026-05-07T22:23:10.216" v="996" actId="1076"/>
        <pc:sldMkLst>
          <pc:docMk/>
          <pc:sldMk cId="2902484084" sldId="271"/>
        </pc:sldMkLst>
        <pc:spChg chg="add mod">
          <ac:chgData name="Rooney, Bryce Edward (53520) CIV USN NIWC PACIFIC CA (USA)" userId="802230dc-da13-4caa-9b75-cf409dfca0cb" providerId="ADAL" clId="{14E4AD74-DF90-47DB-80EB-A94A3623429B}" dt="2026-05-07T22:23:10.216" v="996" actId="1076"/>
          <ac:spMkLst>
            <pc:docMk/>
            <pc:sldMk cId="2902484084" sldId="271"/>
            <ac:spMk id="7" creationId="{F981C5F4-A7D3-075A-2B97-180AB86758D3}"/>
          </ac:spMkLst>
        </pc:spChg>
        <pc:picChg chg="add mod">
          <ac:chgData name="Rooney, Bryce Edward (53520) CIV USN NIWC PACIFIC CA (USA)" userId="802230dc-da13-4caa-9b75-cf409dfca0cb" providerId="ADAL" clId="{14E4AD74-DF90-47DB-80EB-A94A3623429B}" dt="2026-05-07T22:07:43.450" v="468" actId="1076"/>
          <ac:picMkLst>
            <pc:docMk/>
            <pc:sldMk cId="2902484084" sldId="271"/>
            <ac:picMk id="4" creationId="{A061006B-D9CC-5E1F-66B1-CF31C1E6BF94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2:07:44.752" v="469" actId="1076"/>
          <ac:picMkLst>
            <pc:docMk/>
            <pc:sldMk cId="2902484084" sldId="271"/>
            <ac:picMk id="6" creationId="{064F98BF-12F0-A10C-55A9-8BFF6B9C4F6A}"/>
          </ac:picMkLst>
        </pc:picChg>
      </pc:sldChg>
      <pc:sldChg chg="addSp modSp mod">
        <pc:chgData name="Rooney, Bryce Edward (53520) CIV USN NIWC PACIFIC CA (USA)" userId="802230dc-da13-4caa-9b75-cf409dfca0cb" providerId="ADAL" clId="{14E4AD74-DF90-47DB-80EB-A94A3623429B}" dt="2026-05-07T22:26:44.178" v="1002" actId="1076"/>
        <pc:sldMkLst>
          <pc:docMk/>
          <pc:sldMk cId="3617148153" sldId="272"/>
        </pc:sldMkLst>
        <pc:picChg chg="add mod">
          <ac:chgData name="Rooney, Bryce Edward (53520) CIV USN NIWC PACIFIC CA (USA)" userId="802230dc-da13-4caa-9b75-cf409dfca0cb" providerId="ADAL" clId="{14E4AD74-DF90-47DB-80EB-A94A3623429B}" dt="2026-05-07T22:26:44.178" v="1002" actId="1076"/>
          <ac:picMkLst>
            <pc:docMk/>
            <pc:sldMk cId="3617148153" sldId="272"/>
            <ac:picMk id="4" creationId="{C75ACC9B-B187-BEC6-D922-B8A348C7106A}"/>
          </ac:picMkLst>
        </pc:picChg>
      </pc:sldChg>
      <pc:sldChg chg="addSp delSp modSp add mod">
        <pc:chgData name="Rooney, Bryce Edward (53520) CIV USN NIWC PACIFIC CA (USA)" userId="802230dc-da13-4caa-9b75-cf409dfca0cb" providerId="ADAL" clId="{14E4AD74-DF90-47DB-80EB-A94A3623429B}" dt="2026-05-07T22:29:09.298" v="1083" actId="1076"/>
        <pc:sldMkLst>
          <pc:docMk/>
          <pc:sldMk cId="2111630354" sldId="274"/>
        </pc:sldMkLst>
        <pc:spChg chg="mod">
          <ac:chgData name="Rooney, Bryce Edward (53520) CIV USN NIWC PACIFIC CA (USA)" userId="802230dc-da13-4caa-9b75-cf409dfca0cb" providerId="ADAL" clId="{14E4AD74-DF90-47DB-80EB-A94A3623429B}" dt="2026-05-07T21:45:29.161" v="47" actId="1076"/>
          <ac:spMkLst>
            <pc:docMk/>
            <pc:sldMk cId="2111630354" sldId="274"/>
            <ac:spMk id="2" creationId="{BD807B94-783F-321B-210B-042E2754F32B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8:56.014" v="1080" actId="1076"/>
          <ac:spMkLst>
            <pc:docMk/>
            <pc:sldMk cId="2111630354" sldId="274"/>
            <ac:spMk id="3" creationId="{194578F6-62C3-5038-979B-60A62E088FEF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9:09.298" v="1083" actId="1076"/>
          <ac:spMkLst>
            <pc:docMk/>
            <pc:sldMk cId="2111630354" sldId="274"/>
            <ac:spMk id="4" creationId="{13F79579-C895-36D9-923C-2B7524746A47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45:15.301" v="18" actId="478"/>
          <ac:picMkLst>
            <pc:docMk/>
            <pc:sldMk cId="2111630354" sldId="274"/>
            <ac:picMk id="7" creationId="{6698483E-B614-7732-91DD-B2659C6C7639}"/>
          </ac:picMkLst>
        </pc:picChg>
        <pc:picChg chg="del">
          <ac:chgData name="Rooney, Bryce Edward (53520) CIV USN NIWC PACIFIC CA (USA)" userId="802230dc-da13-4caa-9b75-cf409dfca0cb" providerId="ADAL" clId="{14E4AD74-DF90-47DB-80EB-A94A3623429B}" dt="2026-05-07T21:45:15.819" v="19" actId="478"/>
          <ac:picMkLst>
            <pc:docMk/>
            <pc:sldMk cId="2111630354" sldId="274"/>
            <ac:picMk id="11" creationId="{1D2D851B-E512-EA02-A650-48C30EDA784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381-5F87-4AAF-8B41-540099760EE8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420E48-8229-437F-BCF6-DF44AFB63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520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noise types.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4788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results to find. Google scholar</a:t>
            </a:r>
          </a:p>
          <a:p>
            <a:endParaRPr lang="en-US" dirty="0"/>
          </a:p>
          <a:p>
            <a:r>
              <a:rPr lang="en-US" dirty="0"/>
              <a:t>Connected papers</a:t>
            </a:r>
          </a:p>
          <a:p>
            <a:endParaRPr lang="en-US" dirty="0"/>
          </a:p>
          <a:p>
            <a:r>
              <a:rPr lang="en-US" dirty="0"/>
              <a:t>This weekend.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75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EW cert</a:t>
            </a:r>
          </a:p>
          <a:p>
            <a:endParaRPr lang="en-US" dirty="0"/>
          </a:p>
          <a:p>
            <a:r>
              <a:rPr lang="en-US" dirty="0"/>
              <a:t>RSSI values in ACK, SNR</a:t>
            </a:r>
          </a:p>
          <a:p>
            <a:endParaRPr lang="en-US" dirty="0"/>
          </a:p>
          <a:p>
            <a:r>
              <a:rPr lang="en-US" dirty="0"/>
              <a:t>Other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522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252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Wiki </a:t>
            </a:r>
            <a:r>
              <a:rPr lang="en-US" dirty="0" err="1"/>
              <a:t>pedia</a:t>
            </a:r>
            <a:r>
              <a:rPr lang="en-US" dirty="0"/>
              <a:t> on ROC</a:t>
            </a:r>
          </a:p>
          <a:p>
            <a:endParaRPr lang="en-US" dirty="0"/>
          </a:p>
          <a:p>
            <a:r>
              <a:rPr lang="en-US" dirty="0" err="1"/>
              <a:t>Threshhold</a:t>
            </a:r>
            <a:r>
              <a:rPr lang="en-US" dirty="0"/>
              <a:t> details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93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7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18180A-64C9-2A9B-CFB0-FCF2F7E35B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2903" y="949325"/>
            <a:ext cx="8071706" cy="2387600"/>
          </a:xfrm>
        </p:spPr>
        <p:txBody>
          <a:bodyPr>
            <a:norm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</a:rPr>
              <a:t>Capstone Mid-Quarter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B48C1-0882-A141-789A-AEFE16707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2902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</a:rPr>
              <a:t>UCSD WES MAS </a:t>
            </a:r>
          </a:p>
          <a:p>
            <a:pPr algn="l"/>
            <a:r>
              <a:rPr lang="en-US" sz="320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41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3A5445-C140-F2AC-9D8A-5C5292A43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E0602-D295-48EF-7115-5DEC83623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Project Description and Overview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Methods of Evaluation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LoRa Waveform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Current Schedule and Success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Future Schedule</a:t>
            </a:r>
          </a:p>
          <a:p>
            <a:r>
              <a:rPr lang="en-US" sz="2100" dirty="0">
                <a:solidFill>
                  <a:schemeClr val="bg1"/>
                </a:solidFill>
              </a:rPr>
              <a:t>Test Approach</a:t>
            </a:r>
          </a:p>
          <a:p>
            <a:r>
              <a:rPr lang="en-US" sz="2100" dirty="0">
                <a:solidFill>
                  <a:schemeClr val="bg1"/>
                </a:solidFill>
              </a:rPr>
              <a:t>Development Efforts</a:t>
            </a:r>
          </a:p>
          <a:p>
            <a:r>
              <a:rPr lang="en-US" sz="2400" dirty="0">
                <a:solidFill>
                  <a:schemeClr val="bg1"/>
                </a:solidFill>
              </a:rPr>
              <a:t>Test Bed and Equipment</a:t>
            </a:r>
          </a:p>
          <a:p>
            <a:r>
              <a:rPr lang="en-US" sz="2400" dirty="0">
                <a:solidFill>
                  <a:schemeClr val="bg1"/>
                </a:solidFill>
              </a:rPr>
              <a:t>Results So Far</a:t>
            </a:r>
          </a:p>
          <a:p>
            <a:endParaRPr lang="en-US" sz="2100" dirty="0">
              <a:solidFill>
                <a:schemeClr val="bg1"/>
              </a:solidFill>
            </a:endParaRPr>
          </a:p>
          <a:p>
            <a:endParaRPr lang="en-US" sz="2100" dirty="0">
              <a:solidFill>
                <a:schemeClr val="bg1"/>
              </a:solidFill>
            </a:endParaRP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56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>
                <a:solidFill>
                  <a:schemeClr val="bg1"/>
                </a:solidFill>
              </a:rPr>
              <a:t>Quantitative Evaluation of LoRa Resiliency, Detectability, and Geolocation 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8454-F80C-0215-BB29-E1C218B7C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 lnSpcReduction="10000"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Characterize the performance of the LoRa Radio Frequency (RF) Chirp Spread Spectrum (CSS) modulation with methods used by the Department of Defense (DoD).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Anti-Jam and Range performance 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Detection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Geolocation</a:t>
            </a:r>
          </a:p>
          <a:p>
            <a:r>
              <a:rPr lang="en-US" sz="2100" dirty="0">
                <a:solidFill>
                  <a:schemeClr val="bg1"/>
                </a:solidFill>
              </a:rPr>
              <a:t>Collaborate with Naval Information Warfare Center, Pacific (NIWC Pac) Division 535 to leverage existing facilities and equipment.</a:t>
            </a:r>
          </a:p>
          <a:p>
            <a:r>
              <a:rPr lang="en-US" sz="2100" dirty="0">
                <a:solidFill>
                  <a:schemeClr val="bg1"/>
                </a:solidFill>
              </a:rPr>
              <a:t>Write a research paper on findings with insight into desired (or not desired) characteristics and how this fits into DoD Advanced Tactical Data Links (ATDL) research and development. </a:t>
            </a: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94216B-40D2-6247-56D5-A7CBAB944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C3EDA-0049-E9A8-F3AB-AAF7CD206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505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Methods of Evaluation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54FE6-7BDF-F126-BB12-51858113D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051" y="2997905"/>
            <a:ext cx="9406666" cy="352614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Probability of Detection (LPD)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Geolocation Avoidance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Anti-Jam and Range Performance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4219EF-D79F-1C7F-4F30-EF7E0E5AEC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573293" y="2229117"/>
            <a:ext cx="1932844" cy="1932844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C4D73-CB1E-D112-F917-7E864B0500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025" y="4534577"/>
            <a:ext cx="2798112" cy="1684867"/>
          </a:xfrm>
          <a:prstGeom prst="rect">
            <a:avLst/>
          </a:prstGeom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915125B5-438F-4165-094E-8FD593A56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873" y="4005960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7E1520AC-31EF-9A34-8BD5-02D717E5B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162" y="1332706"/>
            <a:ext cx="2321474" cy="232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72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4792D3-1C8D-F13D-DF26-38BF9977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E4302-7F4F-AD8C-B4F5-7EE7A54F7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773" y="700777"/>
            <a:ext cx="5580993" cy="1325563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Probability of Detection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2026340"/>
            <a:ext cx="60959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3A553-1C62-4B2F-EE35-02EA3AA7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21041"/>
            <a:ext cx="6214766" cy="3711571"/>
          </a:xfrm>
        </p:spPr>
        <p:txBody>
          <a:bodyPr>
            <a:normAutofit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Computational-heavy MATLAB Algorithm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Compares signal to Gaussian noise</a:t>
            </a:r>
            <a:endParaRPr lang="en-US" sz="2000" dirty="0">
              <a:solidFill>
                <a:schemeClr val="bg1"/>
              </a:solidFill>
            </a:endParaRP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Receiver Operating Characteristic (ROC)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Probability of true positive detections against false positive detections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Slash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Depicts the relationship between SNR and integration time for a given probability of true detection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EA441-CB06-AA90-59C6-D2C028C35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47247" y="369913"/>
            <a:ext cx="2784532" cy="2784532"/>
          </a:xfrm>
          <a:prstGeom prst="rect">
            <a:avLst/>
          </a:prstGeom>
          <a:noFill/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87417AF-190E-4D6E-AFA6-7D3E84B0B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603" y="182859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67E3B-D785-9A33-F672-9A404FC8D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155" y="3730267"/>
            <a:ext cx="2867652" cy="278453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0B30ED8-273E-4C07-8568-2FE5CC5C4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5071" y="3543213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568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0F2B9-6AAD-879C-6A55-7F18B21E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85EEC4-5662-5ACC-E022-266460ABC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D7697-093C-2AAD-DDE4-BE22A2D4B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3067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Geo-location Avoidance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7F17B-2384-1F46-8843-51118E339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8FFB8B0-0207-F74A-C3FE-946F6F6F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60E67CD-3ABA-843D-DA36-A35E3AB8C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7146" y="2476504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Cross Ambiguity Function (CAF)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Time Difference of Arrival (TDOA)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Frequency Difference of Arrival (FDOA)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CAF output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Peak Magnitude and radius</a:t>
            </a:r>
          </a:p>
        </p:txBody>
      </p:sp>
      <p:pic>
        <p:nvPicPr>
          <p:cNvPr id="16" name="Picture 15" descr="International Journal of Engineering &amp; Advanced Technology (IJEAT)">
            <a:extLst>
              <a:ext uri="{FF2B5EF4-FFF2-40B4-BE49-F238E27FC236}">
                <a16:creationId xmlns:a16="http://schemas.microsoft.com/office/drawing/2014/main" id="{D72267DB-4048-C212-AE79-82FCD41B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244" y="2570174"/>
            <a:ext cx="3650868" cy="273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01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5FB16-8840-350D-B016-199B00B84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232F19-9AE1-174E-3DBF-BDE1F4A014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300579-72E1-F49A-006E-C31DC520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Anti-Jam and Range Performance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251FF-445F-E432-F215-D88A57AB5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763E2-3463-BA31-1EA3-67CB47A60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779FE1-AC4B-B488-A0E6-0869FB038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 Channel Emulator (RCE)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Live Scripts for RCE control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Simulated distances and signal level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Jamming insertion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Jamming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jamming threat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Detection 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threat detector in an LPD environment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4C00B3-07C1-771D-E661-7992508B7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341" y="1471339"/>
            <a:ext cx="3277057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333" y="791022"/>
            <a:ext cx="2856376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032" y="4107284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58" t="28532" r="5845" b="27370"/>
          <a:stretch>
            <a:fillRect/>
          </a:stretch>
        </p:blipFill>
        <p:spPr>
          <a:xfrm>
            <a:off x="6763849" y="2585751"/>
            <a:ext cx="4905261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40A24-6B6D-6741-45BC-0E05A6C8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F3C30F-A099-EA37-5165-DC8D087D3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09B1D-3B3B-11E5-06CB-5D00EBCD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07067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Schedule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Progress (May 8)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B7992B-AF17-FC42-3F1C-0BFAEEE67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79FFF1E-D5ED-A3F2-E665-B40B1FFE4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3E929F-EBB7-85BD-8559-68D9999730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743"/>
          <a:stretch>
            <a:fillRect/>
          </a:stretch>
        </p:blipFill>
        <p:spPr>
          <a:xfrm>
            <a:off x="977037" y="2141533"/>
            <a:ext cx="10237926" cy="44592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C52435-E882-D24C-7F4B-74ECA9333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8418" y="1237469"/>
            <a:ext cx="1676545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01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C1669-16E2-843B-AB4C-A9B1ACE9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13D6AE3-6144-FC9A-C6BA-28DD04603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807B94-783F-321B-210B-042E2754F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65665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Upcoming Milestones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912272-B784-5225-E3F9-8DF3BFD44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46525DB-2487-CEB6-325B-337DF323F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578F6-62C3-5038-979B-60A62E088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789" y="2216990"/>
            <a:ext cx="571578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800" dirty="0">
                <a:solidFill>
                  <a:schemeClr val="bg1"/>
                </a:solidFill>
              </a:rPr>
              <a:t>Test Execution Dates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Anti-Jam / Range: 8 May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Geolocation / CAF: 10 May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Drafting Full Effort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15 May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All Data/Metrics exported from Lab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19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3F79579-C895-36D9-923C-2B7524746A47}"/>
              </a:ext>
            </a:extLst>
          </p:cNvPr>
          <p:cNvSpPr txBox="1">
            <a:spLocks/>
          </p:cNvSpPr>
          <p:nvPr/>
        </p:nvSpPr>
        <p:spPr>
          <a:xfrm>
            <a:off x="6505575" y="3636239"/>
            <a:ext cx="5023407" cy="3711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First Draft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24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Video Presentation Full effort </a:t>
            </a:r>
            <a:endParaRPr lang="en-US" sz="1800" dirty="0">
              <a:solidFill>
                <a:schemeClr val="bg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29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and Video Submitted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June 5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1630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315769-5CD9-2FB8-AE8C-5AE8616CA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2183" y="2282107"/>
            <a:ext cx="7858412" cy="244754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0AED33-CE42-BE71-5C63-18A838072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105" y="4844848"/>
            <a:ext cx="11121470" cy="1656590"/>
          </a:xfrm>
        </p:spPr>
        <p:txBody>
          <a:bodyPr>
            <a:normAutofit fontScale="85000" lnSpcReduction="2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SF how effective is changing the BW?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BW, how effective is changing the SF?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effective data rate, compare the performance of small SF and short BW against high SF and long BW. (SF7 @ ~25kHz vs SF12 @ 500kHz)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Compare Results to other waveforms as possible (scrub proprietary and Controlled Unclassified Information (CUI)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167534" y="2381539"/>
            <a:ext cx="3923511" cy="2348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variations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Other Interpretation: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61006B-D9CC-5E1F-66B1-CF31C1E6B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73" y="2216944"/>
            <a:ext cx="3553358" cy="19361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4F98BF-12F0-A10C-55A9-8BFF6B9C4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913" y="4343198"/>
            <a:ext cx="4092596" cy="220953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81C5F4-A7D3-075A-2B97-180AB86758D3}"/>
              </a:ext>
            </a:extLst>
          </p:cNvPr>
          <p:cNvSpPr txBox="1">
            <a:spLocks/>
          </p:cNvSpPr>
          <p:nvPr/>
        </p:nvSpPr>
        <p:spPr>
          <a:xfrm>
            <a:off x="5273738" y="2273149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LoRa development boards (</a:t>
            </a: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Visual Studio Code C++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Platform IO extension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“Application” traffic exercises waveform signal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50B payload transmitted ~once per second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ACK/NACK between the two with output logging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Single code base for quick uploads between test configs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SF and BW inputs with dynamic protocol adjustment to minimize iterative testing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Code base works as ACK device or Tx device with button toggle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ACC9B-B187-BEC6-D922-B8A348C71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2237471"/>
            <a:ext cx="8201022" cy="432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FD580-7E2A-02C6-D446-2BB77F42D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0B2ACA-0964-8A15-15CC-9108F8A0A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740B62-1C42-EF61-3FB6-5EFD3B4C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Results so Far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302F71-1468-A555-4803-A4D0F2F94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EEFE8-9C8D-A9C0-27A1-DF94965E7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9D411-08C5-5390-24FB-BFF1F2CE22FF}"/>
              </a:ext>
            </a:extLst>
          </p:cNvPr>
          <p:cNvSpPr txBox="1">
            <a:spLocks/>
          </p:cNvSpPr>
          <p:nvPr/>
        </p:nvSpPr>
        <p:spPr>
          <a:xfrm>
            <a:off x="4939441" y="2141533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Detectability test cases with all LoRa configs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 obstacles in RF recording and MATLAB algorithm parameters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Confirmed valid output metrics.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All data being processed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ROC &amp; Slash Curves with Histograms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B0F93D-2CF7-A9BA-5A3E-6F05BA016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3098" y="4493485"/>
            <a:ext cx="3434926" cy="20683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9E3ACA-5488-C982-B9A7-F9345FAA5B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58" y="2442827"/>
            <a:ext cx="3224718" cy="19417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2858432-70BE-BFA3-8784-BFB5500C7B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778" y="4499765"/>
            <a:ext cx="3365211" cy="202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954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63DE4-0879-887A-4C9E-583399216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A40B32-988B-E493-8F2B-F4F4F771D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4982B3-6475-3508-CE35-C7B66FDA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Histograms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836A85-B1A2-9042-6D72-DF357FDBC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618C0AC-9298-2227-AF23-AC41ACB4B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7F2D50-1D56-6B37-26A3-CA53ADD2C9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74" y="4622189"/>
            <a:ext cx="3119619" cy="18784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14E056-C06F-79EC-0BD7-49514EDB00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0440" y="2228980"/>
            <a:ext cx="3119617" cy="18784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9BB08F-C0F2-0E32-B5AC-669EE9CC30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045" y="2235811"/>
            <a:ext cx="3119614" cy="18784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B26FE9B-C4F1-E59B-BE63-D816218491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633" y="4629020"/>
            <a:ext cx="3119615" cy="187845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7E0140A-29EB-5093-FEEA-B2D7DD46E9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454" y="4629020"/>
            <a:ext cx="3119614" cy="1878457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FC54E95-3953-9570-D812-7732F122997E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0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-5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-10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-15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-20dB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3848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5FC57-A386-0885-EDB1-B3278E0EF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54FA4C7-0D93-167E-908E-20A862E8B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0ACA2D-72C8-4227-D679-0D6BFC9C6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(0 &amp; -5 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666294-B1E1-3034-17FB-24E639EF6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5C98C60-5FD1-3F00-EB39-B7796993A8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FF95616-B13B-5579-E5FB-3F7C4110B794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467E9B-F14E-247D-EFD0-828BE411E1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5476" y="1105210"/>
            <a:ext cx="9201048" cy="554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066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9A17B-4EEC-9A86-000A-FC30B78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2C6BA27-5EE2-D1C2-68C6-673966F4F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3B4E4-EAE8-5757-92F7-A2CF9C707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(-10dB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67959-7C1F-4632-0110-D18C9C78B9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A853B61-C94D-6813-3290-908A775CB0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6D3078D-C79E-C28F-C214-C6B0BBFAECBB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41D5BD-4247-330A-D644-47533C545D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950" y="1220403"/>
            <a:ext cx="8874730" cy="53438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17CD78-261C-4663-6821-4B26C88A65B6}"/>
              </a:ext>
            </a:extLst>
          </p:cNvPr>
          <p:cNvCxnSpPr>
            <a:cxnSpLocks/>
          </p:cNvCxnSpPr>
          <p:nvPr/>
        </p:nvCxnSpPr>
        <p:spPr>
          <a:xfrm>
            <a:off x="2950464" y="2267712"/>
            <a:ext cx="9611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45368A-9C8D-B50C-A723-24FE88C0B2B3}"/>
              </a:ext>
            </a:extLst>
          </p:cNvPr>
          <p:cNvCxnSpPr>
            <a:cxnSpLocks/>
          </p:cNvCxnSpPr>
          <p:nvPr/>
        </p:nvCxnSpPr>
        <p:spPr>
          <a:xfrm>
            <a:off x="3911600" y="2267712"/>
            <a:ext cx="0" cy="36316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0829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8991E-014B-B270-3572-B1045DE40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6B46D9-F1E6-177E-B15A-F210C483E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4C6DFE-4524-7E59-155C-519789CD6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(-15dB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5A7178-FF9C-51E8-D42A-9BFEDA30E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459D599-453B-7B15-5F44-5A7F65F846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961255A-08AD-58BE-604B-6D090AE2836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2F033D-1567-AAAC-46D7-63C5D8DDE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867" y="1105210"/>
            <a:ext cx="9169370" cy="552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47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6ED428-7B5E-241A-C52C-3BB209A04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291540C-5AD3-D49B-89B3-DA2DCD513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158D3-0A3F-DDF0-18D4-0B7B1832A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Slash Curve (Pd = .75, Pfa = .25)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5D26181-3E5D-93FF-A171-3893440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35456D2-6C89-60C7-2342-2F28F3874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ECFB990-F012-0D62-12B8-113AB8891AFA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E81336-550B-E30F-F4FA-FFF594D59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753" y="1105210"/>
            <a:ext cx="9208762" cy="5545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417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DE2232-7CFD-956A-7BC4-794F026B9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BAB169F-B9D9-A3E2-A087-76FF92CEB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DB7F2-6BDD-391A-C52C-AF6FDD99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Slash Curve (Pd = .85, Pfa = .15)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59F7E-DA6A-38FF-1EEF-2944E8421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86CB8D9-E0CC-CF0C-B81C-413B64BE4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1C0CE94-FD25-36C2-BFC4-80FBA32170A0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004873-638D-9991-BA02-C5D22B3B2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627" y="1220403"/>
            <a:ext cx="8950994" cy="538978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F8F0B0-8788-042F-2493-D1B476265230}"/>
              </a:ext>
            </a:extLst>
          </p:cNvPr>
          <p:cNvCxnSpPr/>
          <p:nvPr/>
        </p:nvCxnSpPr>
        <p:spPr>
          <a:xfrm flipV="1">
            <a:off x="6638544" y="3816096"/>
            <a:ext cx="0" cy="20848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98329FF-10FF-A76F-6712-2C0AD620DC41}"/>
              </a:ext>
            </a:extLst>
          </p:cNvPr>
          <p:cNvCxnSpPr>
            <a:cxnSpLocks/>
          </p:cNvCxnSpPr>
          <p:nvPr/>
        </p:nvCxnSpPr>
        <p:spPr>
          <a:xfrm>
            <a:off x="3133344" y="3816096"/>
            <a:ext cx="35052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567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5B1D89-2DE6-577C-E833-406F56545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98AF6B2-23F0-526D-D40A-9E18D26E0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006A73-C446-C1D9-B110-C8DAE6B7B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(-10dB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08131D-922A-B6E6-08D6-1FC60CF9B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CB4DA13-8C09-7CFA-BF57-6A7CEA3E6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B2C8362-38B8-7510-CDCB-5A32A2800FFF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DB2C6C-95F0-1E89-D75A-AFEF67AB7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950" y="1220403"/>
            <a:ext cx="8874730" cy="53438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F4C042-5C07-FE40-8738-C765FFE7DA2E}"/>
              </a:ext>
            </a:extLst>
          </p:cNvPr>
          <p:cNvCxnSpPr>
            <a:cxnSpLocks/>
          </p:cNvCxnSpPr>
          <p:nvPr/>
        </p:nvCxnSpPr>
        <p:spPr>
          <a:xfrm>
            <a:off x="2950464" y="2267712"/>
            <a:ext cx="9611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462DA8-3D41-7A1E-4EC6-AD3BCC0C252C}"/>
              </a:ext>
            </a:extLst>
          </p:cNvPr>
          <p:cNvCxnSpPr>
            <a:cxnSpLocks/>
          </p:cNvCxnSpPr>
          <p:nvPr/>
        </p:nvCxnSpPr>
        <p:spPr>
          <a:xfrm>
            <a:off x="3911600" y="2267712"/>
            <a:ext cx="0" cy="36316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A59971-9206-512B-1D06-53C59ED6A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05220D-8C1D-FB53-3B92-0755CE53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C57AE7-E6E4-34E7-D9B7-67D33488D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Slash Curve (Pd = .95, Pfa = .05)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23738D-0DB9-6D5D-FE64-A061C15ECD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0F26BAA-C8E8-5E7F-AF77-78EB407AB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CD1F7B5-81A4-D448-B360-54F00616064C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921FF2-4969-7299-CD8C-AA7C0E55C2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26" y="1220403"/>
            <a:ext cx="8942347" cy="538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27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12762</TotalTime>
  <Words>752</Words>
  <Application>Microsoft Office PowerPoint</Application>
  <PresentationFormat>Widescreen</PresentationFormat>
  <Paragraphs>138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Capstone Mid-Quarter Update</vt:lpstr>
      <vt:lpstr>Agenda</vt:lpstr>
      <vt:lpstr>Quantitative Evaluation of LoRa Resiliency, Detectability, and Geolocation  </vt:lpstr>
      <vt:lpstr>Methods of Evaluation</vt:lpstr>
      <vt:lpstr>Probability of Detection</vt:lpstr>
      <vt:lpstr>Geo-location Avoidance</vt:lpstr>
      <vt:lpstr>Anti-Jam and Range Performance</vt:lpstr>
      <vt:lpstr>Long Range (LoRa) Chirp Spread Spectrum (CSS)</vt:lpstr>
      <vt:lpstr>Schedule and  Progress (May 8)</vt:lpstr>
      <vt:lpstr>Upcoming Milestones</vt:lpstr>
      <vt:lpstr>Test Approach</vt:lpstr>
      <vt:lpstr>Development Efforts</vt:lpstr>
      <vt:lpstr>Test Bed and  Equipment</vt:lpstr>
      <vt:lpstr>Results so Far</vt:lpstr>
      <vt:lpstr>Histograms</vt:lpstr>
      <vt:lpstr>ROC Curve (0 &amp; -5 dB SNR)</vt:lpstr>
      <vt:lpstr>ROC Curve (-10dB SNR)</vt:lpstr>
      <vt:lpstr>ROC Curve (-15dB SNR)</vt:lpstr>
      <vt:lpstr>Slash Curve (Pd = .75, Pfa = .25)</vt:lpstr>
      <vt:lpstr>Slash Curve (Pd = .85, Pfa = .15)</vt:lpstr>
      <vt:lpstr>ROC Curve (-10dB SNR)</vt:lpstr>
      <vt:lpstr>Slash Curve (Pd = .95, Pfa = .05)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Yadi R</cp:lastModifiedBy>
  <cp:revision>9</cp:revision>
  <dcterms:created xsi:type="dcterms:W3CDTF">2026-03-31T19:56:18Z</dcterms:created>
  <dcterms:modified xsi:type="dcterms:W3CDTF">2026-05-20T02:16:34Z</dcterms:modified>
</cp:coreProperties>
</file>